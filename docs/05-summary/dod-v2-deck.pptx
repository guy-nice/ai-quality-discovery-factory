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oD v2" id="{ee83f14c-091a-151b-8a75-6c7cee0a11d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Quality DoD v2  |  Evidence as of 2026-10-25  |  Revises Confluence 4048715783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Quality DoD v2  |  Evidence as of 2026-10-25  |  Revises Confluence 4048715783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Quality Definition of Done v2: What the Evidence Keeps, Changes and Adds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Revises the WIP Quality DoD (Confluence 4048715783)  |  QA Architecture  |  25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the DoD must change</a:t>
            </a:r>
            <a:endParaRPr lang="en-US" sz="3000" dirty="0"/>
          </a:p>
        </p:txBody>
      </p:sp>
      <p:sp>
        <p:nvSpPr>
          <p:cNvPr id="3" name="why-0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+49%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customer-found bugs</a:t>
            </a:r>
            <a:endParaRPr lang="en-US" sz="1400" dirty="0"/>
          </a:p>
        </p:txBody>
      </p:sp>
      <p:sp>
        <p:nvSpPr>
          <p:cNvPr id="6" name="why-1"/>
          <p:cNvSpPr/>
          <p:nvPr/>
        </p:nvSpPr>
        <p:spPr>
          <a:xfrm>
            <a:off x="3355848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P1 incidents found by customers</a:t>
            </a:r>
            <a:endParaRPr lang="en-US" sz="1400" dirty="0"/>
          </a:p>
        </p:txBody>
      </p:sp>
      <p:sp>
        <p:nvSpPr>
          <p:cNvPr id="9" name="why-2"/>
          <p:cNvSpPr/>
          <p:nvPr/>
        </p:nvSpPr>
        <p:spPr>
          <a:xfrm>
            <a:off x="6163056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DoD items block today; most are policy</a:t>
            </a:r>
            <a:endParaRPr lang="en-US" sz="1400" dirty="0"/>
          </a:p>
        </p:txBody>
      </p:sp>
      <p:sp>
        <p:nvSpPr>
          <p:cNvPr id="12" name="why-3"/>
          <p:cNvSpPr/>
          <p:nvPr/>
        </p:nvSpPr>
        <p:spPr>
          <a:xfrm>
            <a:off x="8970264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98864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1.1-10.4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9198864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incidents per bug across teams</a:t>
            </a:r>
            <a:endParaRPr lang="en-US" sz="1400" dirty="0"/>
          </a:p>
        </p:txBody>
      </p:sp>
      <p:sp>
        <p:nvSpPr>
          <p:cNvPr id="15" name="principle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Principle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262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 gate blocks only where data proves the risk.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Everything else is policy or a suggested means, measured and reviewed.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Tiers come from evidence (impact, failure type, hotspot code), not from product names.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Gate map v2: where each check sits and whether it blocks</a:t>
            </a:r>
            <a:endParaRPr lang="en-US" sz="3000" dirty="0"/>
          </a:p>
        </p:txBody>
      </p:sp>
      <p:sp>
        <p:nvSpPr>
          <p:cNvPr id="3" name="gm-0"/>
          <p:cNvSpPr/>
          <p:nvPr/>
        </p:nvSpPr>
        <p:spPr>
          <a:xfrm>
            <a:off x="548640" y="1463040"/>
            <a:ext cx="1481328" cy="73152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4630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5" name="gmc-0"/>
          <p:cNvSpPr/>
          <p:nvPr/>
        </p:nvSpPr>
        <p:spPr>
          <a:xfrm>
            <a:off x="548640" y="2377440"/>
            <a:ext cx="1481328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Epic review; state / toggle section for risky Epics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Policy + audit</a:t>
            </a:r>
            <a:endParaRPr lang="en-US" sz="1200" dirty="0"/>
          </a:p>
        </p:txBody>
      </p:sp>
      <p:sp>
        <p:nvSpPr>
          <p:cNvPr id="8" name="gm-1"/>
          <p:cNvSpPr/>
          <p:nvPr/>
        </p:nvSpPr>
        <p:spPr>
          <a:xfrm>
            <a:off x="2148840" y="1463040"/>
            <a:ext cx="1481328" cy="731520"/>
          </a:xfrm>
          <a:prstGeom prst="chevron">
            <a:avLst/>
          </a:prstGeom>
          <a:solidFill>
            <a:srgbClr val="C8443D"/>
          </a:solidFill>
          <a:ln w="12700">
            <a:solidFill>
              <a:srgbClr val="C844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1448" y="14630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Pull request</a:t>
            </a:r>
            <a:endParaRPr lang="en-US" sz="1200" dirty="0"/>
          </a:p>
        </p:txBody>
      </p:sp>
      <p:sp>
        <p:nvSpPr>
          <p:cNvPr id="10" name="gmc-1"/>
          <p:cNvSpPr/>
          <p:nvPr/>
        </p:nvSpPr>
        <p:spPr>
          <a:xfrm>
            <a:off x="2148840" y="2377440"/>
            <a:ext cx="1481328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251460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Hotspot size limit, code-owner review, tests, Jira key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42062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Blocks (hotspot)</a:t>
            </a:r>
            <a:endParaRPr lang="en-US" sz="1200" dirty="0"/>
          </a:p>
        </p:txBody>
      </p:sp>
      <p:sp>
        <p:nvSpPr>
          <p:cNvPr id="13" name="gm-2"/>
          <p:cNvSpPr/>
          <p:nvPr/>
        </p:nvSpPr>
        <p:spPr>
          <a:xfrm>
            <a:off x="3749040" y="1463040"/>
            <a:ext cx="1481328" cy="731520"/>
          </a:xfrm>
          <a:prstGeom prst="chevron">
            <a:avLst/>
          </a:prstGeom>
          <a:solidFill>
            <a:srgbClr val="C8443D"/>
          </a:solidFill>
          <a:ln w="12700">
            <a:solidFill>
              <a:srgbClr val="C84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41648" y="14630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Build</a:t>
            </a:r>
            <a:endParaRPr lang="en-US" sz="1200" dirty="0"/>
          </a:p>
        </p:txBody>
      </p:sp>
      <p:sp>
        <p:nvSpPr>
          <p:cNvPr id="15" name="gmc-2"/>
          <p:cNvSpPr/>
          <p:nvPr/>
        </p:nvSpPr>
        <p:spPr>
          <a:xfrm>
            <a:off x="3749040" y="2377440"/>
            <a:ext cx="1481328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251460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Unit tests, Sonar, secret and dependency scan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42062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Blocks</a:t>
            </a:r>
            <a:endParaRPr lang="en-US" sz="1200" dirty="0"/>
          </a:p>
        </p:txBody>
      </p:sp>
      <p:sp>
        <p:nvSpPr>
          <p:cNvPr id="18" name="gm-3"/>
          <p:cNvSpPr/>
          <p:nvPr/>
        </p:nvSpPr>
        <p:spPr>
          <a:xfrm>
            <a:off x="5349240" y="1463040"/>
            <a:ext cx="1481328" cy="731520"/>
          </a:xfrm>
          <a:prstGeom prst="chevron">
            <a:avLst/>
          </a:prstGeom>
          <a:solidFill>
            <a:srgbClr val="C8443D"/>
          </a:solidFill>
          <a:ln w="12700">
            <a:solidFill>
              <a:srgbClr val="C84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41848" y="14630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 health</a:t>
            </a:r>
            <a:endParaRPr lang="en-US" sz="1200" dirty="0"/>
          </a:p>
        </p:txBody>
      </p:sp>
      <p:sp>
        <p:nvSpPr>
          <p:cNvPr id="20" name="gmc-3"/>
          <p:cNvSpPr/>
          <p:nvPr/>
        </p:nvSpPr>
        <p:spPr>
          <a:xfrm>
            <a:off x="5349240" y="2377440"/>
            <a:ext cx="1481328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51460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Suite blocks only while it holds its pass level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2062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Blocks when healthy</a:t>
            </a:r>
            <a:endParaRPr lang="en-US" sz="1200" dirty="0"/>
          </a:p>
        </p:txBody>
      </p:sp>
      <p:sp>
        <p:nvSpPr>
          <p:cNvPr id="23" name="gm-4"/>
          <p:cNvSpPr/>
          <p:nvPr/>
        </p:nvSpPr>
        <p:spPr>
          <a:xfrm>
            <a:off x="6949440" y="1463040"/>
            <a:ext cx="1481328" cy="73152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42048" y="14630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Release</a:t>
            </a:r>
            <a:endParaRPr lang="en-US" sz="1200" dirty="0"/>
          </a:p>
        </p:txBody>
      </p:sp>
      <p:sp>
        <p:nvSpPr>
          <p:cNvPr id="25" name="gmc-4"/>
          <p:cNvSpPr/>
          <p:nvPr/>
        </p:nvSpPr>
        <p:spPr>
          <a:xfrm>
            <a:off x="6949440" y="2377440"/>
            <a:ext cx="1481328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251460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Perf / chaos for high risk; data-based Go/No-Go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2062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Human + checks</a:t>
            </a:r>
            <a:endParaRPr lang="en-US" sz="1200" dirty="0"/>
          </a:p>
        </p:txBody>
      </p:sp>
      <p:sp>
        <p:nvSpPr>
          <p:cNvPr id="28" name="gm-5"/>
          <p:cNvSpPr/>
          <p:nvPr/>
        </p:nvSpPr>
        <p:spPr>
          <a:xfrm>
            <a:off x="8549640" y="1463040"/>
            <a:ext cx="1481328" cy="73152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42248" y="14630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</a:t>
            </a:r>
            <a:endParaRPr lang="en-US" sz="1200" dirty="0"/>
          </a:p>
        </p:txBody>
      </p:sp>
      <p:sp>
        <p:nvSpPr>
          <p:cNvPr id="30" name="gmc-5"/>
          <p:cNvSpPr/>
          <p:nvPr/>
        </p:nvSpPr>
        <p:spPr>
          <a:xfrm>
            <a:off x="8549640" y="2377440"/>
            <a:ext cx="1481328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41080" y="251460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Toggle, progressive rollout, invariant monitors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42062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Release check</a:t>
            </a:r>
            <a:endParaRPr lang="en-US" sz="1200" dirty="0"/>
          </a:p>
        </p:txBody>
      </p:sp>
      <p:sp>
        <p:nvSpPr>
          <p:cNvPr id="33" name="gm-6"/>
          <p:cNvSpPr/>
          <p:nvPr/>
        </p:nvSpPr>
        <p:spPr>
          <a:xfrm>
            <a:off x="10149840" y="1463040"/>
            <a:ext cx="1481328" cy="73152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42448" y="1463040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Escape</a:t>
            </a:r>
            <a:endParaRPr lang="en-US" sz="1200" dirty="0"/>
          </a:p>
        </p:txBody>
      </p:sp>
      <p:sp>
        <p:nvSpPr>
          <p:cNvPr id="35" name="gmc-6"/>
          <p:cNvSpPr/>
          <p:nvPr/>
        </p:nvSpPr>
        <p:spPr>
          <a:xfrm>
            <a:off x="10149840" y="2377440"/>
            <a:ext cx="1481328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41280" y="251460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Bug fields + linked test before close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42062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Jira validator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Red = blocks. Agents (test plan, Playwright, RIA, exploratory, mutation) feed these checks; they are not gates by themselves.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Epic level: your WIP items, verdict by evidence</a:t>
            </a:r>
            <a:endParaRPr lang="en-US" sz="3000" dirty="0"/>
          </a:p>
        </p:txBody>
      </p:sp>
      <p:graphicFrame>
        <p:nvGraphicFramePr>
          <p:cNvPr id="5" name="epic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19456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 DoD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 / Epic review, acceptance 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Strengthen: risky Epics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flow +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Causing stories link a spec 6.8% vs 31.8%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 phase 1 / phase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Change: fixes + hotspots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Policy; phase 2 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 miss 7-15%; half had RIA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 / Playwright 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Keep: as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escape evidence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Keep: block everywhere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CI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in 1 of 5 pilot repos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&gt;= 80% (blocking)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Change: visible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per scope 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tests 3%; 2 of 4 fails 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ReportPortal; pipeline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Change: test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when 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E2E 1.2%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test, Chaos Runner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Keep: high risk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/ scale escapes 13-23%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tests in Xray, linked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Change: escape + risky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+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18-25%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reviewed with PM / Architect, 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Keep: high-impact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differ strongly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Release level: your WIP items, verdict by evidence</a:t>
            </a:r>
            <a:endParaRPr lang="en-US" sz="3000" dirty="0"/>
          </a:p>
        </p:txBody>
      </p:sp>
      <p:graphicFrame>
        <p:nvGraphicFramePr>
          <p:cNvPr id="6" name="releas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19456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 DoD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toggle registered, owner, removal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Keep: mandatory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 cannot roll 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verified on and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Keep: high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and rollback 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Change: toggle-off + progressive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not possible on monolith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Post-deploy sanity by toggle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monitor for changed paths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Strengthen: correctness monitors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check (high risk)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 of P1 found by 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open P1-P3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 sign-off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Change: data-based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+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 pages mostly TBD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New items the evidence adds</a:t>
            </a:r>
            <a:endParaRPr lang="en-US" sz="3000" dirty="0"/>
          </a:p>
        </p:txBody>
      </p:sp>
      <p:graphicFrame>
        <p:nvGraphicFramePr>
          <p:cNvPr id="7" name="new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19456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Intake: defect vs MI vs expectation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required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tickets inflated the 2026 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fields: type, detected-by,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required (X1)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known for ~25%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Escape-to-test before close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 of RCAs add a test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Hotspot PR rules: size, owner,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on hotspot paths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fixes 21% -&gt; 54% by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CODEOWNERS for hotspot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 has none; bus factor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Bug-fix review, correctness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-&gt; block if X4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4 known causes is a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Emergency-change follow-up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changes x2.9 since June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Tiers by evidence, not by product name</a:t>
            </a:r>
            <a:endParaRPr lang="en-US" sz="3000" dirty="0"/>
          </a:p>
        </p:txBody>
      </p:sp>
      <p:sp>
        <p:nvSpPr>
          <p:cNvPr id="3" name="tier-h-0"/>
          <p:cNvSpPr/>
          <p:nvPr/>
        </p:nvSpPr>
        <p:spPr>
          <a:xfrm>
            <a:off x="548640" y="1417320"/>
            <a:ext cx="544068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High risk</a:t>
            </a:r>
            <a:endParaRPr lang="en-US" sz="2000" dirty="0"/>
          </a:p>
        </p:txBody>
      </p:sp>
      <p:sp>
        <p:nvSpPr>
          <p:cNvPr id="5" name="tier-b-0"/>
          <p:cNvSpPr/>
          <p:nvPr/>
        </p:nvSpPr>
        <p:spPr>
          <a:xfrm>
            <a:off x="548640" y="2240280"/>
            <a:ext cx="544068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Assigned by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High-impact team type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Correctness-critical failure types (routing, contact lifecycle, report data, agent state)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Hotspot code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blocking checks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 and chaos stage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Invariant monitors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review with PM / Architect</a:t>
            </a:r>
            <a:endParaRPr lang="en-US" sz="1400" dirty="0"/>
          </a:p>
        </p:txBody>
      </p:sp>
      <p:sp>
        <p:nvSpPr>
          <p:cNvPr id="10" name="tier-h-1"/>
          <p:cNvSpPr/>
          <p:nvPr/>
        </p:nvSpPr>
        <p:spPr>
          <a:xfrm>
            <a:off x="6172200" y="1417320"/>
            <a:ext cx="544068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417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Standard</a:t>
            </a:r>
            <a:endParaRPr lang="en-US" sz="2000" dirty="0"/>
          </a:p>
        </p:txBody>
      </p:sp>
      <p:sp>
        <p:nvSpPr>
          <p:cNvPr id="12" name="tier-b-1"/>
          <p:cNvSpPr/>
          <p:nvPr/>
        </p:nvSpPr>
        <p:spPr>
          <a:xfrm>
            <a:off x="6172200" y="2240280"/>
            <a:ext cx="544068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Assigned by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43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other teams and code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526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Common baseline (intake, fields, RCA)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Sonar + test health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toggles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When the DoD v2 takes effect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Now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Bug intake rule and fields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Sonar required in every repo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Mutation score visible in Sonar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Go/No-Go with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Triage routing E2E failures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Q1 2027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1031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Hotspot PR rules (X3)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Bug-fix review (X4)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Correctness monitors in shadow (X2)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CODEOWNERS for hotspots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April 2027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1031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Results vs control teams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Decide which checks block, per tier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Mutation blocking per scope, if proven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Harness only for proven checks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y Signal">
  <a:themeElements>
    <a:clrScheme name="Quality Signal">
      <a:dk1>
        <a:srgbClr val="1B2A41"/>
      </a:dk1>
      <a:lt1>
        <a:srgbClr val="FFFFFF"/>
      </a:lt1>
      <a:dk2>
        <a:srgbClr val="4A5A72"/>
      </a:dk2>
      <a:lt2>
        <a:srgbClr val="EEF2F6"/>
      </a:lt2>
      <a:accent1>
        <a:srgbClr val="C8443D"/>
      </a:accent1>
      <a:accent2>
        <a:srgbClr val="2A8C82"/>
      </a:accent2>
      <a:accent3>
        <a:srgbClr val="E0A030"/>
      </a:accent3>
      <a:accent4>
        <a:srgbClr val="8796AB"/>
      </a:accent4>
      <a:accent5>
        <a:srgbClr val="1B2A41"/>
      </a:accent5>
      <a:accent6>
        <a:srgbClr val="C9D3DF"/>
      </a:accent6>
      <a:hlink>
        <a:srgbClr val="2A8C82"/>
      </a:hlink>
      <a:folHlink>
        <a:srgbClr val="4A5A72"/>
      </a:folHlink>
    </a:clrScheme>
    <a:fontScheme name="Quality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2026 - Research Summary</dc:title>
  <dc:subject>PptxGenJS Presentation</dc:subject>
  <dc:creator>QA Architecture</dc:creator>
  <cp:lastModifiedBy>QA Architecture</cp:lastModifiedBy>
  <cp:revision>1</cp:revision>
  <dcterms:created xsi:type="dcterms:W3CDTF">2026-10-25T09:58:47Z</dcterms:created>
  <dcterms:modified xsi:type="dcterms:W3CDTF">2026-10-25T09:58:47Z</dcterms:modified>
</cp:coreProperties>
</file>