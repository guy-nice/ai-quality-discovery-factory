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ituation" id="{aa4f07cc-6cea-e48d-579d-dc3b7f005b0d}">
          <p14:sldIdLst>
            <p14:sldId id="256"/>
            <p14:sldId id="257"/>
            <p14:sldId id="258"/>
            <p14:sldId id="259"/>
          </p14:sldIdLst>
        </p14:section>
        <p14:section name="Causes" id="{07ef9c79-bdc0-ba38-cba0-fa4c11350ffe}">
          <p14:sldIdLst>
            <p14:sldId id="260"/>
            <p14:sldId id="261"/>
            <p14:sldId id="262"/>
            <p14:sldId id="263"/>
          </p14:sldIdLst>
        </p14:section>
        <p14:section name="Actions" id="{9b24156c-8fd1-3c4c-e400-113d31358f44}">
          <p14:sldIdLst>
            <p14:sldId id="264"/>
            <p14:sldId id="265"/>
            <p14:sldId id="266"/>
          </p14:sldIdLst>
        </p14:section>
        <p14:section name="Decisions" id="{fa3e5407-f54b-7aec-4785-15c941db8aaf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A41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A41"/>
                </a:solidFill>
                <a:latin typeface="+mn-lt"/>
              </a:rPr>
              <a:t>Customer-found bugs created per quarter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P1/P2</c:v>
                </c:pt>
              </c:strCache>
            </c:strRef>
          </c:tx>
          <c:spPr>
            <a:solidFill>
              <a:srgbClr val="C844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41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Sheet1!$A$2:$A$24</c:f>
              <c:multiLvlStrCache>
                <c:ptCount val="23"/>
                <c:lvl>
                  <c:pt idx="0">
                    <c:v>21Q1</c:v>
                  </c:pt>
                  <c:pt idx="1">
                    <c:v>21Q2</c:v>
                  </c:pt>
                  <c:pt idx="2">
                    <c:v>21Q3</c:v>
                  </c:pt>
                  <c:pt idx="3">
                    <c:v>21Q4</c:v>
                  </c:pt>
                  <c:pt idx="4">
                    <c:v>22Q1</c:v>
                  </c:pt>
                  <c:pt idx="5">
                    <c:v>22Q2</c:v>
                  </c:pt>
                  <c:pt idx="6">
                    <c:v>22Q3</c:v>
                  </c:pt>
                  <c:pt idx="7">
                    <c:v>22Q4</c:v>
                  </c:pt>
                  <c:pt idx="8">
                    <c:v>23Q1</c:v>
                  </c:pt>
                  <c:pt idx="9">
                    <c:v>23Q2</c:v>
                  </c:pt>
                  <c:pt idx="10">
                    <c:v>23Q3</c:v>
                  </c:pt>
                  <c:pt idx="11">
                    <c:v>23Q4</c:v>
                  </c:pt>
                  <c:pt idx="12">
                    <c:v>24Q1</c:v>
                  </c:pt>
                  <c:pt idx="13">
                    <c:v>24Q2</c:v>
                  </c:pt>
                  <c:pt idx="14">
                    <c:v>24Q3</c:v>
                  </c:pt>
                  <c:pt idx="15">
                    <c:v>24Q4</c:v>
                  </c:pt>
                  <c:pt idx="16">
                    <c:v>25Q1</c:v>
                  </c:pt>
                  <c:pt idx="17">
                    <c:v>25Q2</c:v>
                  </c:pt>
                  <c:pt idx="18">
                    <c:v>25Q3</c:v>
                  </c:pt>
                  <c:pt idx="19">
                    <c:v>25Q4</c:v>
                  </c:pt>
                  <c:pt idx="20">
                    <c:v>26Q1</c:v>
                  </c:pt>
                  <c:pt idx="21">
                    <c:v>26Q2</c:v>
                  </c:pt>
                  <c:pt idx="22">
                    <c:v>26Q3</c:v>
                  </c:pt>
                </c:lvl>
              </c:multiLvlStrCache>
            </c:multiLvlStrRef>
          </c:cat>
          <c:val>
            <c:numRef>
              <c:f>Sheet1!$B$2:$B$24</c:f>
              <c:numCache>
                <c:formatCode>General</c:formatCode>
                <c:ptCount val="23"/>
                <c:pt idx="0">
                  <c:v>112</c:v>
                </c:pt>
                <c:pt idx="1">
                  <c:v>138</c:v>
                </c:pt>
                <c:pt idx="2">
                  <c:v>157</c:v>
                </c:pt>
                <c:pt idx="3">
                  <c:v>164</c:v>
                </c:pt>
                <c:pt idx="4">
                  <c:v>153</c:v>
                </c:pt>
                <c:pt idx="5">
                  <c:v>151</c:v>
                </c:pt>
                <c:pt idx="6">
                  <c:v>185</c:v>
                </c:pt>
                <c:pt idx="7">
                  <c:v>172</c:v>
                </c:pt>
                <c:pt idx="8">
                  <c:v>187</c:v>
                </c:pt>
                <c:pt idx="9">
                  <c:v>171</c:v>
                </c:pt>
                <c:pt idx="10">
                  <c:v>179</c:v>
                </c:pt>
                <c:pt idx="11">
                  <c:v>155</c:v>
                </c:pt>
                <c:pt idx="12">
                  <c:v>186</c:v>
                </c:pt>
                <c:pt idx="13">
                  <c:v>178</c:v>
                </c:pt>
                <c:pt idx="14">
                  <c:v>199</c:v>
                </c:pt>
                <c:pt idx="15">
                  <c:v>185</c:v>
                </c:pt>
                <c:pt idx="16">
                  <c:v>174</c:v>
                </c:pt>
                <c:pt idx="17">
                  <c:v>122</c:v>
                </c:pt>
                <c:pt idx="18">
                  <c:v>167</c:v>
                </c:pt>
                <c:pt idx="19">
                  <c:v>242</c:v>
                </c:pt>
                <c:pt idx="20">
                  <c:v>175</c:v>
                </c:pt>
                <c:pt idx="21">
                  <c:v>334</c:v>
                </c:pt>
                <c:pt idx="22">
                  <c:v>316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P3/P4</c:v>
                </c:pt>
              </c:strCache>
            </c:strRef>
          </c:tx>
          <c:spPr>
            <a:solidFill>
              <a:srgbClr val="C9D3D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41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Sheet1!$A$2:$A$24</c:f>
              <c:multiLvlStrCache>
                <c:ptCount val="23"/>
                <c:lvl>
                  <c:pt idx="0">
                    <c:v>21Q1</c:v>
                  </c:pt>
                  <c:pt idx="1">
                    <c:v>21Q2</c:v>
                  </c:pt>
                  <c:pt idx="2">
                    <c:v>21Q3</c:v>
                  </c:pt>
                  <c:pt idx="3">
                    <c:v>21Q4</c:v>
                  </c:pt>
                  <c:pt idx="4">
                    <c:v>22Q1</c:v>
                  </c:pt>
                  <c:pt idx="5">
                    <c:v>22Q2</c:v>
                  </c:pt>
                  <c:pt idx="6">
                    <c:v>22Q3</c:v>
                  </c:pt>
                  <c:pt idx="7">
                    <c:v>22Q4</c:v>
                  </c:pt>
                  <c:pt idx="8">
                    <c:v>23Q1</c:v>
                  </c:pt>
                  <c:pt idx="9">
                    <c:v>23Q2</c:v>
                  </c:pt>
                  <c:pt idx="10">
                    <c:v>23Q3</c:v>
                  </c:pt>
                  <c:pt idx="11">
                    <c:v>23Q4</c:v>
                  </c:pt>
                  <c:pt idx="12">
                    <c:v>24Q1</c:v>
                  </c:pt>
                  <c:pt idx="13">
                    <c:v>24Q2</c:v>
                  </c:pt>
                  <c:pt idx="14">
                    <c:v>24Q3</c:v>
                  </c:pt>
                  <c:pt idx="15">
                    <c:v>24Q4</c:v>
                  </c:pt>
                  <c:pt idx="16">
                    <c:v>25Q1</c:v>
                  </c:pt>
                  <c:pt idx="17">
                    <c:v>25Q2</c:v>
                  </c:pt>
                  <c:pt idx="18">
                    <c:v>25Q3</c:v>
                  </c:pt>
                  <c:pt idx="19">
                    <c:v>25Q4</c:v>
                  </c:pt>
                  <c:pt idx="20">
                    <c:v>26Q1</c:v>
                  </c:pt>
                  <c:pt idx="21">
                    <c:v>26Q2</c:v>
                  </c:pt>
                  <c:pt idx="22">
                    <c:v>26Q3</c:v>
                  </c:pt>
                </c:lvl>
              </c:multiLvlStrCache>
            </c:multiLvlStrRef>
          </c:cat>
          <c:val>
            <c:numRef>
              <c:f>Sheet1!$C$2:$C$24</c:f>
              <c:numCache>
                <c:formatCode>General</c:formatCode>
                <c:ptCount val="23"/>
                <c:pt idx="0">
                  <c:v>178</c:v>
                </c:pt>
                <c:pt idx="1">
                  <c:v>187</c:v>
                </c:pt>
                <c:pt idx="2">
                  <c:v>148</c:v>
                </c:pt>
                <c:pt idx="3">
                  <c:v>160</c:v>
                </c:pt>
                <c:pt idx="4">
                  <c:v>180</c:v>
                </c:pt>
                <c:pt idx="5">
                  <c:v>186</c:v>
                </c:pt>
                <c:pt idx="6">
                  <c:v>248</c:v>
                </c:pt>
                <c:pt idx="7">
                  <c:v>176</c:v>
                </c:pt>
                <c:pt idx="8">
                  <c:v>214</c:v>
                </c:pt>
                <c:pt idx="9">
                  <c:v>163</c:v>
                </c:pt>
                <c:pt idx="10">
                  <c:v>153</c:v>
                </c:pt>
                <c:pt idx="11">
                  <c:v>142</c:v>
                </c:pt>
                <c:pt idx="12">
                  <c:v>150</c:v>
                </c:pt>
                <c:pt idx="13">
                  <c:v>182</c:v>
                </c:pt>
                <c:pt idx="14">
                  <c:v>155</c:v>
                </c:pt>
                <c:pt idx="15">
                  <c:v>178</c:v>
                </c:pt>
                <c:pt idx="16">
                  <c:v>124</c:v>
                </c:pt>
                <c:pt idx="17">
                  <c:v>154</c:v>
                </c:pt>
                <c:pt idx="18">
                  <c:v>216</c:v>
                </c:pt>
                <c:pt idx="19">
                  <c:v>183</c:v>
                </c:pt>
                <c:pt idx="20">
                  <c:v>157</c:v>
                </c:pt>
                <c:pt idx="21">
                  <c:v>198</c:v>
                </c:pt>
                <c:pt idx="22">
                  <c:v>152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A41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A7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DE3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A7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1B2A41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A41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A41"/>
                </a:solidFill>
                <a:latin typeface="+mn-lt"/>
              </a:rPr>
              <a:t>Customer-found bugs by R&amp;D VP, last 12 months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CFB</c:v>
                </c:pt>
              </c:strCache>
            </c:strRef>
          </c:tx>
          <c:spPr>
            <a:solidFill>
              <a:srgbClr val="8796A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4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VMS, Rec, QM &amp; FM</c:v>
                  </c:pt>
                  <c:pt idx="1">
                    <c:v>APQ</c:v>
                  </c:pt>
                  <c:pt idx="2">
                    <c:v>LiveVox &amp; Digital</c:v>
                  </c:pt>
                  <c:pt idx="3">
                    <c:v>AHW</c:v>
                  </c:pt>
                  <c:pt idx="4">
                    <c:v>WFM</c:v>
                  </c:pt>
                  <c:pt idx="5">
                    <c:v>Orchestration Core</c:v>
                  </c:pt>
                  <c:pt idx="6">
                    <c:v>Analytics and Data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99</c:v>
                </c:pt>
                <c:pt idx="1">
                  <c:v>120</c:v>
                </c:pt>
                <c:pt idx="2">
                  <c:v>138</c:v>
                </c:pt>
                <c:pt idx="3">
                  <c:v>250</c:v>
                </c:pt>
                <c:pt idx="4">
                  <c:v>281</c:v>
                </c:pt>
                <c:pt idx="5">
                  <c:v>296</c:v>
                </c:pt>
                <c:pt idx="6">
                  <c:v>473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A4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A7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A7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A41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A41"/>
                </a:solidFill>
                <a:latin typeface="+mn-lt"/>
              </a:rPr>
              <a:t>AI-implemented share of resolved stories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 share of resolved stories (%)</c:v>
                </c:pt>
              </c:strCache>
            </c:strRef>
          </c:tx>
          <c:spPr>
            <a:solidFill>
              <a:srgbClr val="2A8C82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4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25Q1</c:v>
                  </c:pt>
                  <c:pt idx="1">
                    <c:v>25Q2</c:v>
                  </c:pt>
                  <c:pt idx="2">
                    <c:v>25Q3</c:v>
                  </c:pt>
                  <c:pt idx="3">
                    <c:v>25Q4</c:v>
                  </c:pt>
                  <c:pt idx="4">
                    <c:v>26Q1</c:v>
                  </c:pt>
                  <c:pt idx="5">
                    <c:v>26Q2</c:v>
                  </c:pt>
                  <c:pt idx="6">
                    <c:v>26Q3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0.2</c:v>
                </c:pt>
                <c:pt idx="1">
                  <c:v>0.3</c:v>
                </c:pt>
                <c:pt idx="2">
                  <c:v>0.4</c:v>
                </c:pt>
                <c:pt idx="3">
                  <c:v>2</c:v>
                </c:pt>
                <c:pt idx="4">
                  <c:v>10.2</c:v>
                </c:pt>
                <c:pt idx="5">
                  <c:v>31.3</c:v>
                </c:pt>
                <c:pt idx="6">
                  <c:v>22.8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B2A4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A7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A7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A41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A41"/>
                </a:solidFill>
                <a:latin typeface="+mn-lt"/>
              </a:rPr>
              <a:t>PRs followed by a customer-bug fix within 30 days, by PR size (lines)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Hotspot code</c:v>
                </c:pt>
              </c:strCache>
            </c:strRef>
          </c:tx>
          <c:spPr>
            <a:solidFill>
              <a:srgbClr val="C8443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4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0-50</c:v>
                  </c:pt>
                  <c:pt idx="1">
                    <c:v>51-150</c:v>
                  </c:pt>
                  <c:pt idx="2">
                    <c:v>151-400</c:v>
                  </c:pt>
                  <c:pt idx="3">
                    <c:v>401-1,000</c:v>
                  </c:pt>
                  <c:pt idx="4">
                    <c:v>&gt; 1,000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20.7</c:v>
                </c:pt>
                <c:pt idx="1">
                  <c:v>17.3</c:v>
                </c:pt>
                <c:pt idx="2">
                  <c:v>27.1</c:v>
                </c:pt>
                <c:pt idx="3">
                  <c:v>33.3</c:v>
                </c:pt>
                <c:pt idx="4">
                  <c:v>53.8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Other code</c:v>
                </c:pt>
              </c:strCache>
            </c:strRef>
          </c:tx>
          <c:spPr>
            <a:solidFill>
              <a:srgbClr val="C9D3DF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4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0-50</c:v>
                  </c:pt>
                  <c:pt idx="1">
                    <c:v>51-150</c:v>
                  </c:pt>
                  <c:pt idx="2">
                    <c:v>151-400</c:v>
                  </c:pt>
                  <c:pt idx="3">
                    <c:v>401-1,000</c:v>
                  </c:pt>
                  <c:pt idx="4">
                    <c:v>&gt; 1,000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3.7</c:v>
                </c:pt>
                <c:pt idx="1">
                  <c:v>3.1</c:v>
                </c:pt>
                <c:pt idx="2">
                  <c:v>4.2</c:v>
                </c:pt>
                <c:pt idx="3">
                  <c:v>5.1</c:v>
                </c:pt>
                <c:pt idx="4">
                  <c:v>5.5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B2A4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A7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A7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1B2A41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share what 9 years of customer-found bug data, our code history and our CI runs show, and agree on the next decisions. All numbers come from read-only queries; detail is in the research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Bottom line. Five flat years (about 1,300 customer-found bugs per year), then 2026 broke the trend. Severity grew faster than volume. AI is not the per-change cause; the gap is controls that do not scale with volume.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Jira, issuetype = Bug with a Salesforce case link (11,662 bugs since 2017). Two bulk imports (projects ENG and CGY) were checked and do not affect these counts.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Window: 22 Oct 2025 to 22 Oct 2026, 1,760 bugs (+34% vs the year before). Orchestration Core was chosen as pilot: highest severity and incident load. 51% of its bugs close as invalid (mostly duplicates of the same incident), so we track valid bugs.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Evidence: 321 classified root-cause analyses (two blind raters agreed 85%), 7,866 commits, 1,663 pull requests and 2,837 CI runs. Causes 1 and 2 explain why the others reach customers.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pull requests in the pilot repos went from 0-5% in 2025 to 46% in 2026-Q3, and to 51% in the top hotspot code. Confidence on the AI comparison is Low-Medium (few AI-caused bugs so far); re-test with a 90-day window in 2027-Q1.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Hotspot code = the 10 pilot directories with the most customer-bug fixes (for example the VC-to-VC sync, ACD provider, AFM service). 1,663 merged PRs, 2025-2026.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only blocking automated checks found are opt-in local hooks (Sonar, Aikido). The release gate is a human decision. RCA is filled on 89% of fixed bugs but reviewed on 33%.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gate is a check that stops the work. A policy without a stop is not a gate. Each gate maps to a cause on slide 5. The monolith cannot roll back, so G6 relies on feature toggles and progressive rollout.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were not in the original scope but block lasting improvement. The research database built in this initiative is the seed for item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Measured monthly from the same queries as the frozen baseline. A change counts only when it holds for two periods. First review April 2027.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 decisions unblock the pilot. Research outputs (specs, drafts, database) are ready; nothing has been changed in company systems.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Title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7764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Subtitle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Title</a:t>
            </a: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AI Quality Discovery  |  Data as of 2026-10-22  |  Sources: Jira, Confluence, GitHub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Title</a:t>
            </a: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AI Quality Discovery  |  Data as of 2026-10-22  |  Sources: Jira, Confluence, GitHub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Software Quality 2026: What the Data Shows and What Must Change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776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Research summary for management  |  QA Architecture  |  22 October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More and worse customer bugs; controls did not keep up</a:t>
            </a:r>
            <a:endParaRPr lang="en-US" sz="3000" dirty="0"/>
          </a:p>
        </p:txBody>
      </p:sp>
      <p:sp>
        <p:nvSpPr>
          <p:cNvPr id="3" name="stat-0"/>
          <p:cNvSpPr/>
          <p:nvPr/>
        </p:nvSpPr>
        <p:spPr>
          <a:xfrm>
            <a:off x="548640" y="1463040"/>
            <a:ext cx="347472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+51%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697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customer-found bugs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00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H1 2026 vs H1 2025</a:t>
            </a:r>
            <a:endParaRPr lang="en-US" sz="1300" dirty="0"/>
          </a:p>
        </p:txBody>
      </p:sp>
      <p:sp>
        <p:nvSpPr>
          <p:cNvPr id="7" name="stat-1"/>
          <p:cNvSpPr/>
          <p:nvPr/>
        </p:nvSpPr>
        <p:spPr>
          <a:xfrm>
            <a:off x="4297680" y="1463040"/>
            <a:ext cx="347472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0" y="16459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+72%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697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P1/P2 customer-found bugs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3200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H1 2026 vs H1 2025</a:t>
            </a:r>
            <a:endParaRPr lang="en-US" sz="1300" dirty="0"/>
          </a:p>
        </p:txBody>
      </p:sp>
      <p:sp>
        <p:nvSpPr>
          <p:cNvPr id="11" name="stat-2"/>
          <p:cNvSpPr/>
          <p:nvPr/>
        </p:nvSpPr>
        <p:spPr>
          <a:xfrm>
            <a:off x="8046720" y="1463040"/>
            <a:ext cx="347472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6459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2.4x</a:t>
            </a:r>
            <a:endParaRPr lang="en-US" sz="60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697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more delivered stories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3200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2024-Q3 to 2026-Q3</a:t>
            </a:r>
            <a:endParaRPr lang="en-US" sz="1300" dirty="0"/>
          </a:p>
        </p:txBody>
      </p:sp>
      <p:sp>
        <p:nvSpPr>
          <p:cNvPr id="15" name="num-1"/>
          <p:cNvSpPr/>
          <p:nvPr/>
        </p:nvSpPr>
        <p:spPr>
          <a:xfrm>
            <a:off x="548640" y="4160520"/>
            <a:ext cx="411480" cy="4114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160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41605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Not AI: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AI-made changes are not riskier per change (ratio 1.03). AI adds volume.</a:t>
            </a:r>
            <a:endParaRPr lang="en-US" sz="1600" dirty="0"/>
          </a:p>
        </p:txBody>
      </p:sp>
      <p:sp>
        <p:nvSpPr>
          <p:cNvPr id="18" name="num-2"/>
          <p:cNvSpPr/>
          <p:nvPr/>
        </p:nvSpPr>
        <p:spPr>
          <a:xfrm>
            <a:off x="548640" y="4846320"/>
            <a:ext cx="411480" cy="4114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846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48463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Real cause: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change volume grew, but quality controls stayed on paper. No check blocks bad changes.</a:t>
            </a:r>
            <a:endParaRPr lang="en-US" sz="1600" dirty="0"/>
          </a:p>
        </p:txBody>
      </p:sp>
      <p:sp>
        <p:nvSpPr>
          <p:cNvPr id="21" name="num-3"/>
          <p:cNvSpPr/>
          <p:nvPr/>
        </p:nvSpPr>
        <p:spPr>
          <a:xfrm>
            <a:off x="548640" y="553212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5532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" y="55321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Fix: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add 7 blocking gates, make tests trustworthy, own the hotspot code. Pilot first, review in April 2027.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2026 broke a five-year flat line, and severity rose faster</a:t>
            </a:r>
            <a:endParaRPr lang="en-US" sz="3000" dirty="0"/>
          </a:p>
        </p:txBody>
      </p:sp>
      <p:graphicFrame>
        <p:nvGraphicFramePr>
          <p:cNvPr id="3" name="chart-cfb-trend" descr=""/>
          <p:cNvGraphicFramePr/>
          <p:nvPr/>
        </p:nvGraphicFramePr>
        <p:xfrm>
          <a:off x="548640" y="1325880"/>
          <a:ext cx="7955280" cy="4892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rend-notes"/>
          <p:cNvSpPr/>
          <p:nvPr/>
        </p:nvSpPr>
        <p:spPr>
          <a:xfrm>
            <a:off x="8778240" y="1325880"/>
            <a:ext cx="2834640" cy="489204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006840" y="15544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532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9006840" y="2286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record quarter (2026-Q2)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9006840" y="28803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68%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9006840" y="36118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P1/P2 share in 2026-Q3 (about 50% in 2023-24)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9006840" y="44348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~1,300</a:t>
            </a:r>
            <a:endParaRPr lang="en-US" sz="4400" dirty="0"/>
          </a:p>
        </p:txBody>
      </p:sp>
      <p:sp>
        <p:nvSpPr>
          <p:cNvPr id="10" name="Text 7"/>
          <p:cNvSpPr txBox="1"/>
          <p:nvPr/>
        </p:nvSpPr>
        <p:spPr>
          <a:xfrm>
            <a:off x="9006840" y="5166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per year, flat 2021-2025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Three R&amp;D domains produce 60% of customer-found bugs</a:t>
            </a:r>
            <a:endParaRPr lang="en-US" sz="3000" dirty="0"/>
          </a:p>
        </p:txBody>
      </p:sp>
      <p:graphicFrame>
        <p:nvGraphicFramePr>
          <p:cNvPr id="3" name="chart-vp" descr=""/>
          <p:cNvGraphicFramePr/>
          <p:nvPr/>
        </p:nvGraphicFramePr>
        <p:xfrm>
          <a:off x="548640" y="1325880"/>
          <a:ext cx="6766560" cy="4892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pilot-card"/>
          <p:cNvSpPr/>
          <p:nvPr/>
        </p:nvSpPr>
        <p:spPr>
          <a:xfrm>
            <a:off x="7680960" y="1325880"/>
            <a:ext cx="3931920" cy="4892040"/>
          </a:xfrm>
          <a:prstGeom prst="roundRect">
            <a:avLst>
              <a:gd name="adj" fmla="val 186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955280" y="1554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Pilot: Orchestration Core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955280" y="2011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Contact routing and lifecycle flow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955280" y="26517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7955280" y="3291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of its bugs are P1/P2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955280" y="37947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3.8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7955280" y="4434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incidents per bug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955280" y="49377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+34%</a:t>
            </a:r>
            <a:endParaRPr lang="en-US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7955280" y="5577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valid bugs in 12 months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Seven causes, ranked by the strength of the evidence</a:t>
            </a:r>
            <a:endParaRPr lang="en-US" sz="3000" dirty="0"/>
          </a:p>
        </p:txBody>
      </p:sp>
      <p:sp>
        <p:nvSpPr>
          <p:cNvPr id="3" name="num-1"/>
          <p:cNvSpPr/>
          <p:nvPr/>
        </p:nvSpPr>
        <p:spPr>
          <a:xfrm>
            <a:off x="548640" y="15087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4173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Controls exist on paper only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745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9 of ~15 Jira quality fields &lt; 2% filled; no blocking gate</a:t>
            </a:r>
            <a:endParaRPr lang="en-US" sz="1400" dirty="0"/>
          </a:p>
        </p:txBody>
      </p:sp>
      <p:sp>
        <p:nvSpPr>
          <p:cNvPr id="7" name="num-2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6060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The test signal is broken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0632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Routing E2E passes 1.2% of runs; failures are ignored</a:t>
            </a:r>
            <a:endParaRPr lang="en-US" sz="1400" dirty="0"/>
          </a:p>
        </p:txBody>
      </p:sp>
      <p:sp>
        <p:nvSpPr>
          <p:cNvPr id="11" name="num-3"/>
          <p:cNvSpPr/>
          <p:nvPr/>
        </p:nvSpPr>
        <p:spPr>
          <a:xfrm>
            <a:off x="548640" y="3886200"/>
            <a:ext cx="502920" cy="5029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7947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Real scenarios are not tested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2519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28-31% of escaped bugs</a:t>
            </a:r>
            <a:endParaRPr lang="en-US" sz="1400" dirty="0"/>
          </a:p>
        </p:txBody>
      </p:sp>
      <p:sp>
        <p:nvSpPr>
          <p:cNvPr id="15" name="num-4"/>
          <p:cNvSpPr/>
          <p:nvPr/>
        </p:nvSpPr>
        <p:spPr>
          <a:xfrm>
            <a:off x="548640" y="5074920"/>
            <a:ext cx="502920" cy="5029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074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49834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State races, monolith vs new services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54406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21% of valid pilot bugs; no per-contact version</a:t>
            </a:r>
            <a:endParaRPr lang="en-US" sz="1400" dirty="0"/>
          </a:p>
        </p:txBody>
      </p:sp>
      <p:sp>
        <p:nvSpPr>
          <p:cNvPr id="19" name="num-5"/>
          <p:cNvSpPr/>
          <p:nvPr/>
        </p:nvSpPr>
        <p:spPr>
          <a:xfrm>
            <a:off x="6217920" y="1508760"/>
            <a:ext cx="502920" cy="5029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1792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949440" y="14173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Big changes into hotspot code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18745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Follow-up fixes 21% (small PRs) to 54% (&gt; 1,000 lines)</a:t>
            </a:r>
            <a:endParaRPr lang="en-US" sz="1400" dirty="0"/>
          </a:p>
        </p:txBody>
      </p:sp>
      <p:sp>
        <p:nvSpPr>
          <p:cNvPr id="23" name="num-6"/>
          <p:cNvSpPr/>
          <p:nvPr/>
        </p:nvSpPr>
        <p:spPr>
          <a:xfrm>
            <a:off x="6217920" y="2697480"/>
            <a:ext cx="502920" cy="5029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1792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949440" y="26060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Knowledge sits with 1-2 people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30632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Bus factor 1 on the VC-to-VC sync code</a:t>
            </a:r>
            <a:endParaRPr lang="en-US" sz="1400" dirty="0"/>
          </a:p>
        </p:txBody>
      </p:sp>
      <p:sp>
        <p:nvSpPr>
          <p:cNvPr id="27" name="num-7"/>
          <p:cNvSpPr/>
          <p:nvPr/>
        </p:nvSpPr>
        <p:spPr>
          <a:xfrm>
            <a:off x="6217920" y="3886200"/>
            <a:ext cx="502920" cy="5029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1792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6949440" y="37947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Production conditions not reproduced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6949440" y="42519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No performance or chaos test workflow</a:t>
            </a:r>
            <a:endParaRPr lang="en-US" sz="1400" dirty="0"/>
          </a:p>
        </p:txBody>
      </p:sp>
      <p:sp>
        <p:nvSpPr>
          <p:cNvPr id="31" name="ai-note"/>
          <p:cNvSpPr/>
          <p:nvPr/>
        </p:nvSpPr>
        <p:spPr>
          <a:xfrm>
            <a:off x="6217920" y="4983480"/>
            <a:ext cx="539496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00800" y="51206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Not a cause per change: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AI-assisted development. AI changes cause bugs at the same rate (ratio 1.03) and need fewer follow-up fixes (0.67).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AI is not riskier per change, but it multiplies change volume</a:t>
            </a:r>
            <a:endParaRPr lang="en-US" sz="3000" dirty="0"/>
          </a:p>
        </p:txBody>
      </p:sp>
      <p:graphicFrame>
        <p:nvGraphicFramePr>
          <p:cNvPr id="3" name="chart-ai-share" descr=""/>
          <p:cNvGraphicFramePr/>
          <p:nvPr/>
        </p:nvGraphicFramePr>
        <p:xfrm>
          <a:off x="548640" y="1325880"/>
          <a:ext cx="6035040" cy="4892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ai-stat-0"/>
          <p:cNvSpPr/>
          <p:nvPr/>
        </p:nvSpPr>
        <p:spPr>
          <a:xfrm>
            <a:off x="6949440" y="1325880"/>
            <a:ext cx="46634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178040" y="150876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1.03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8823960" y="155448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bug rate ratio, AI vs other changes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823960" y="2240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95% CI 0.57-1.86</a:t>
            </a:r>
            <a:endParaRPr lang="en-US" sz="1300" dirty="0"/>
          </a:p>
        </p:txBody>
      </p:sp>
      <p:sp>
        <p:nvSpPr>
          <p:cNvPr id="8" name="ai-stat-1"/>
          <p:cNvSpPr/>
          <p:nvPr/>
        </p:nvSpPr>
        <p:spPr>
          <a:xfrm>
            <a:off x="6949440" y="2999232"/>
            <a:ext cx="46634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78040" y="3182112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0.67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8823960" y="322783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follow-up fixes after AI PRs vs others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823960" y="391363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95% CI 0.47-0.95</a:t>
            </a:r>
            <a:endParaRPr lang="en-US" sz="1300" dirty="0"/>
          </a:p>
        </p:txBody>
      </p:sp>
      <p:sp>
        <p:nvSpPr>
          <p:cNvPr id="12" name="ai-stat-2"/>
          <p:cNvSpPr/>
          <p:nvPr/>
        </p:nvSpPr>
        <p:spPr>
          <a:xfrm>
            <a:off x="6949440" y="4672584"/>
            <a:ext cx="46634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178040" y="4855464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3.7x</a:t>
            </a:r>
            <a:endParaRPr lang="en-US" sz="4000" dirty="0"/>
          </a:p>
        </p:txBody>
      </p:sp>
      <p:sp>
        <p:nvSpPr>
          <p:cNvPr id="14" name="Text 11"/>
          <p:cNvSpPr txBox="1"/>
          <p:nvPr/>
        </p:nvSpPr>
        <p:spPr>
          <a:xfrm>
            <a:off x="8823960" y="4901184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larger AI PRs; review per line not higher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823960" y="558698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Risk to watch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real risk: big changes into hotspot code, by anyone</a:t>
            </a:r>
            <a:endParaRPr lang="en-US" sz="3000" dirty="0"/>
          </a:p>
        </p:txBody>
      </p:sp>
      <p:graphicFrame>
        <p:nvGraphicFramePr>
          <p:cNvPr id="3" name="chart-size-risk" descr=""/>
          <p:cNvGraphicFramePr/>
          <p:nvPr/>
        </p:nvGraphicFramePr>
        <p:xfrm>
          <a:off x="548640" y="1325880"/>
          <a:ext cx="7498080" cy="4892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ize-notes"/>
          <p:cNvSpPr/>
          <p:nvPr/>
        </p:nvSpPr>
        <p:spPr>
          <a:xfrm>
            <a:off x="8412480" y="1325880"/>
            <a:ext cx="3200400" cy="489204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641080" y="15544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54% vs 6%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8641080" y="22860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large PRs in hotspot code vs other code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641080" y="31546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39% vs 11%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8641080" y="38862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large non-AI vs large AI PRs: rules must cover all PRs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641080" y="49377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Review comments per 100 lines fall from 3.3 to 0.03 as PRs grow.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Our controls exist on paper, not in the pipeline</a:t>
            </a:r>
            <a:endParaRPr lang="en-US" sz="3000" dirty="0"/>
          </a:p>
        </p:txBody>
      </p:sp>
      <p:sp>
        <p:nvSpPr>
          <p:cNvPr id="3" name="tile-0"/>
          <p:cNvSpPr/>
          <p:nvPr/>
        </p:nvSpPr>
        <p:spPr>
          <a:xfrm>
            <a:off x="548640" y="1417320"/>
            <a:ext cx="347472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6060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of Stories have a regression impact analysis</a:t>
            </a:r>
            <a:endParaRPr lang="en-US" sz="1500" dirty="0"/>
          </a:p>
        </p:txBody>
      </p:sp>
      <p:sp>
        <p:nvSpPr>
          <p:cNvPr id="6" name="tile-1"/>
          <p:cNvSpPr/>
          <p:nvPr/>
        </p:nvSpPr>
        <p:spPr>
          <a:xfrm>
            <a:off x="4297680" y="1417320"/>
            <a:ext cx="347472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0" y="164592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of 15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26060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Jira quality fields filled on &lt; 2% of items</a:t>
            </a:r>
            <a:endParaRPr lang="en-US" sz="1500" dirty="0"/>
          </a:p>
        </p:txBody>
      </p:sp>
      <p:sp>
        <p:nvSpPr>
          <p:cNvPr id="9" name="tile-2"/>
          <p:cNvSpPr/>
          <p:nvPr/>
        </p:nvSpPr>
        <p:spPr>
          <a:xfrm>
            <a:off x="8046720" y="1417320"/>
            <a:ext cx="347472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0" y="164592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1.2%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6060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pass rate of the routing E2E pipeline</a:t>
            </a:r>
            <a:endParaRPr lang="en-US" sz="1500" dirty="0"/>
          </a:p>
        </p:txBody>
      </p:sp>
      <p:sp>
        <p:nvSpPr>
          <p:cNvPr id="12" name="tile-3"/>
          <p:cNvSpPr/>
          <p:nvPr/>
        </p:nvSpPr>
        <p:spPr>
          <a:xfrm>
            <a:off x="548640" y="3840480"/>
            <a:ext cx="347472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0690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"TBD"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0292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status on all 26.4 domain Go/No-Go pages</a:t>
            </a:r>
            <a:endParaRPr lang="en-US" sz="1500" dirty="0"/>
          </a:p>
        </p:txBody>
      </p:sp>
      <p:sp>
        <p:nvSpPr>
          <p:cNvPr id="15" name="tile-4"/>
          <p:cNvSpPr/>
          <p:nvPr/>
        </p:nvSpPr>
        <p:spPr>
          <a:xfrm>
            <a:off x="4297680" y="3840480"/>
            <a:ext cx="347472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0" y="40690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None</a:t>
            </a:r>
            <a:endParaRPr lang="en-US" sz="44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50292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code owners file in the monolith</a:t>
            </a:r>
            <a:endParaRPr lang="en-US" sz="1500" dirty="0"/>
          </a:p>
        </p:txBody>
      </p:sp>
      <p:sp>
        <p:nvSpPr>
          <p:cNvPr id="18" name="tile-5"/>
          <p:cNvSpPr/>
          <p:nvPr/>
        </p:nvSpPr>
        <p:spPr>
          <a:xfrm>
            <a:off x="8046720" y="3840480"/>
            <a:ext cx="347472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21040" y="40690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2.7%</a:t>
            </a:r>
            <a:endParaRPr lang="en-US" sz="44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50292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of bugs link the change that caused them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Seven gates that block work when a check fails</a:t>
            </a:r>
            <a:endParaRPr lang="en-US" sz="3000" dirty="0"/>
          </a:p>
        </p:txBody>
      </p:sp>
      <p:sp>
        <p:nvSpPr>
          <p:cNvPr id="3" name="gate-G1"/>
          <p:cNvSpPr/>
          <p:nvPr/>
        </p:nvSpPr>
        <p:spPr>
          <a:xfrm>
            <a:off x="548640" y="1463040"/>
            <a:ext cx="1481328" cy="777240"/>
          </a:xfrm>
          <a:prstGeom prst="chevron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10241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G1</a:t>
            </a:r>
            <a:endParaRPr lang="en-US" sz="1800" dirty="0"/>
          </a:p>
        </p:txBody>
      </p:sp>
      <p:sp>
        <p:nvSpPr>
          <p:cNvPr id="5" name="gate-card-G1"/>
          <p:cNvSpPr/>
          <p:nvPr/>
        </p:nvSpPr>
        <p:spPr>
          <a:xfrm>
            <a:off x="548640" y="2423160"/>
            <a:ext cx="1481328" cy="2240280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256032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Design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3063240"/>
            <a:ext cx="12618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State, ordering and toggle section; named owners</a:t>
            </a:r>
            <a:endParaRPr lang="en-US" sz="1300" dirty="0"/>
          </a:p>
        </p:txBody>
      </p:sp>
      <p:sp>
        <p:nvSpPr>
          <p:cNvPr id="8" name="gate-G2"/>
          <p:cNvSpPr/>
          <p:nvPr/>
        </p:nvSpPr>
        <p:spPr>
          <a:xfrm>
            <a:off x="2148840" y="1463040"/>
            <a:ext cx="1481328" cy="777240"/>
          </a:xfrm>
          <a:prstGeom prst="chevron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377440" y="1463040"/>
            <a:ext cx="10241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G2</a:t>
            </a:r>
            <a:endParaRPr lang="en-US" sz="1800" dirty="0"/>
          </a:p>
        </p:txBody>
      </p:sp>
      <p:sp>
        <p:nvSpPr>
          <p:cNvPr id="10" name="gate-card-G2"/>
          <p:cNvSpPr/>
          <p:nvPr/>
        </p:nvSpPr>
        <p:spPr>
          <a:xfrm>
            <a:off x="2148840" y="2423160"/>
            <a:ext cx="1481328" cy="2240280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258568" y="256032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Pull request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258568" y="3063240"/>
            <a:ext cx="12618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Hotspot code: &lt;= 400 lines, owner approval, tests, Jira key</a:t>
            </a:r>
            <a:endParaRPr lang="en-US" sz="1300" dirty="0"/>
          </a:p>
        </p:txBody>
      </p:sp>
      <p:sp>
        <p:nvSpPr>
          <p:cNvPr id="13" name="gate-G3"/>
          <p:cNvSpPr/>
          <p:nvPr/>
        </p:nvSpPr>
        <p:spPr>
          <a:xfrm>
            <a:off x="3749040" y="1463040"/>
            <a:ext cx="1481328" cy="777240"/>
          </a:xfrm>
          <a:prstGeom prst="chevron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977640" y="1463040"/>
            <a:ext cx="10241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G3</a:t>
            </a:r>
            <a:endParaRPr lang="en-US" sz="1800" dirty="0"/>
          </a:p>
        </p:txBody>
      </p:sp>
      <p:sp>
        <p:nvSpPr>
          <p:cNvPr id="15" name="gate-card-G3"/>
          <p:cNvSpPr/>
          <p:nvPr/>
        </p:nvSpPr>
        <p:spPr>
          <a:xfrm>
            <a:off x="3749040" y="2423160"/>
            <a:ext cx="1481328" cy="2240280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858768" y="256032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Build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858768" y="3063240"/>
            <a:ext cx="12618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Unit, contract and ordering tests; Sonar; secret scan</a:t>
            </a:r>
            <a:endParaRPr lang="en-US" sz="1300" dirty="0"/>
          </a:p>
        </p:txBody>
      </p:sp>
      <p:sp>
        <p:nvSpPr>
          <p:cNvPr id="18" name="gate-G4"/>
          <p:cNvSpPr/>
          <p:nvPr/>
        </p:nvSpPr>
        <p:spPr>
          <a:xfrm>
            <a:off x="5349240" y="1463040"/>
            <a:ext cx="1481328" cy="777240"/>
          </a:xfrm>
          <a:prstGeom prst="chevron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577840" y="1463040"/>
            <a:ext cx="10241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G4</a:t>
            </a:r>
            <a:endParaRPr lang="en-US" sz="1800" dirty="0"/>
          </a:p>
        </p:txBody>
      </p:sp>
      <p:sp>
        <p:nvSpPr>
          <p:cNvPr id="20" name="gate-card-G4"/>
          <p:cNvSpPr/>
          <p:nvPr/>
        </p:nvSpPr>
        <p:spPr>
          <a:xfrm>
            <a:off x="5349240" y="2423160"/>
            <a:ext cx="1481328" cy="2240280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58968" y="256032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Test health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458968" y="3063240"/>
            <a:ext cx="12618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 suite blocks only at &gt;= 95% pass over 14 days</a:t>
            </a:r>
            <a:endParaRPr lang="en-US" sz="1300" dirty="0"/>
          </a:p>
        </p:txBody>
      </p:sp>
      <p:sp>
        <p:nvSpPr>
          <p:cNvPr id="23" name="gate-G5"/>
          <p:cNvSpPr/>
          <p:nvPr/>
        </p:nvSpPr>
        <p:spPr>
          <a:xfrm>
            <a:off x="6949440" y="1463040"/>
            <a:ext cx="1481328" cy="777240"/>
          </a:xfrm>
          <a:prstGeom prst="chevron">
            <a:avLst/>
          </a:prstGeom>
          <a:solidFill>
            <a:srgbClr val="2A8C82"/>
          </a:solidFill>
          <a:ln w="12700">
            <a:solidFill>
              <a:srgbClr val="2A8C8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178040" y="1463040"/>
            <a:ext cx="10241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G5</a:t>
            </a:r>
            <a:endParaRPr lang="en-US" sz="1800" dirty="0"/>
          </a:p>
        </p:txBody>
      </p:sp>
      <p:sp>
        <p:nvSpPr>
          <p:cNvPr id="25" name="gate-card-G5"/>
          <p:cNvSpPr/>
          <p:nvPr/>
        </p:nvSpPr>
        <p:spPr>
          <a:xfrm>
            <a:off x="6949440" y="2423160"/>
            <a:ext cx="1481328" cy="2240280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059168" y="256032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Pre-release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059168" y="3063240"/>
            <a:ext cx="12618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Fault and load stage; data-based Go/No-Go</a:t>
            </a:r>
            <a:endParaRPr lang="en-US" sz="1300" dirty="0"/>
          </a:p>
        </p:txBody>
      </p:sp>
      <p:sp>
        <p:nvSpPr>
          <p:cNvPr id="28" name="gate-G6"/>
          <p:cNvSpPr/>
          <p:nvPr/>
        </p:nvSpPr>
        <p:spPr>
          <a:xfrm>
            <a:off x="8549640" y="1463040"/>
            <a:ext cx="1481328" cy="777240"/>
          </a:xfrm>
          <a:prstGeom prst="chevron">
            <a:avLst/>
          </a:prstGeom>
          <a:solidFill>
            <a:srgbClr val="2A8C82"/>
          </a:solidFill>
          <a:ln w="12700">
            <a:solidFill>
              <a:srgbClr val="2A8C8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778240" y="1463040"/>
            <a:ext cx="10241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G6</a:t>
            </a:r>
            <a:endParaRPr lang="en-US" sz="1800" dirty="0"/>
          </a:p>
        </p:txBody>
      </p:sp>
      <p:sp>
        <p:nvSpPr>
          <p:cNvPr id="30" name="gate-card-G6"/>
          <p:cNvSpPr/>
          <p:nvPr/>
        </p:nvSpPr>
        <p:spPr>
          <a:xfrm>
            <a:off x="8549640" y="2423160"/>
            <a:ext cx="1481328" cy="2240280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659368" y="256032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Deploy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659368" y="3063240"/>
            <a:ext cx="12618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Toggle, progressive rollout, monitors green</a:t>
            </a:r>
            <a:endParaRPr lang="en-US" sz="1300" dirty="0"/>
          </a:p>
        </p:txBody>
      </p:sp>
      <p:sp>
        <p:nvSpPr>
          <p:cNvPr id="33" name="gate-G7"/>
          <p:cNvSpPr/>
          <p:nvPr/>
        </p:nvSpPr>
        <p:spPr>
          <a:xfrm>
            <a:off x="10149840" y="1463040"/>
            <a:ext cx="1481328" cy="777240"/>
          </a:xfrm>
          <a:prstGeom prst="chevron">
            <a:avLst/>
          </a:prstGeom>
          <a:solidFill>
            <a:srgbClr val="2A8C82"/>
          </a:solidFill>
          <a:ln w="12700">
            <a:solidFill>
              <a:srgbClr val="2A8C8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378440" y="1463040"/>
            <a:ext cx="10241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G7</a:t>
            </a:r>
            <a:endParaRPr lang="en-US" sz="1800" dirty="0"/>
          </a:p>
        </p:txBody>
      </p:sp>
      <p:sp>
        <p:nvSpPr>
          <p:cNvPr id="35" name="gate-card-G7"/>
          <p:cNvSpPr/>
          <p:nvPr/>
        </p:nvSpPr>
        <p:spPr>
          <a:xfrm>
            <a:off x="10149840" y="2423160"/>
            <a:ext cx="1481328" cy="2240280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259568" y="256032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Escape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10259568" y="3063240"/>
            <a:ext cx="12618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 customer bug closes only with a linked test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489204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Code and CI (G1-G4)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6949440" y="48920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Release and production (G5-G7)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Not now: regression-impact agents (7% of escapes) and mutation testing (3%). Add later only if the measures show the need.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Also needed: governance gaps the data revealed</a:t>
            </a:r>
            <a:endParaRPr lang="en-US" sz="3000" dirty="0"/>
          </a:p>
        </p:txBody>
      </p:sp>
      <p:sp>
        <p:nvSpPr>
          <p:cNvPr id="3" name="gap-0"/>
          <p:cNvSpPr/>
          <p:nvPr/>
        </p:nvSpPr>
        <p:spPr>
          <a:xfrm>
            <a:off x="548640" y="1600200"/>
            <a:ext cx="2606040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num-1"/>
          <p:cNvSpPr/>
          <p:nvPr/>
        </p:nvSpPr>
        <p:spPr>
          <a:xfrm>
            <a:off x="777240" y="182880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8288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Governance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231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Name a sponsor and a quality owner per critical flow; review 7 measures monthly</a:t>
            </a:r>
            <a:endParaRPr lang="en-US" sz="1400" dirty="0"/>
          </a:p>
        </p:txBody>
      </p:sp>
      <p:sp>
        <p:nvSpPr>
          <p:cNvPr id="8" name="gap-1"/>
          <p:cNvSpPr/>
          <p:nvPr/>
        </p:nvSpPr>
        <p:spPr>
          <a:xfrm>
            <a:off x="3355848" y="1600200"/>
            <a:ext cx="2606040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um-2"/>
          <p:cNvSpPr/>
          <p:nvPr/>
        </p:nvSpPr>
        <p:spPr>
          <a:xfrm>
            <a:off x="3584448" y="182880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84448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133088" y="18288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Bug data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584448" y="24231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51% of pilot bugs invalid; require cause and incident links; dedupe</a:t>
            </a:r>
            <a:endParaRPr lang="en-US" sz="1400" dirty="0"/>
          </a:p>
        </p:txBody>
      </p:sp>
      <p:sp>
        <p:nvSpPr>
          <p:cNvPr id="13" name="gap-2"/>
          <p:cNvSpPr/>
          <p:nvPr/>
        </p:nvSpPr>
        <p:spPr>
          <a:xfrm>
            <a:off x="6163056" y="1600200"/>
            <a:ext cx="2606040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num-3"/>
          <p:cNvSpPr/>
          <p:nvPr/>
        </p:nvSpPr>
        <p:spPr>
          <a:xfrm>
            <a:off x="6391656" y="182880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91656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940296" y="18288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Detection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391656" y="24231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SLOs and alerts per critical flow; record who detected each bug</a:t>
            </a:r>
            <a:endParaRPr lang="en-US" sz="1400" dirty="0"/>
          </a:p>
        </p:txBody>
      </p:sp>
      <p:sp>
        <p:nvSpPr>
          <p:cNvPr id="18" name="gap-3"/>
          <p:cNvSpPr/>
          <p:nvPr/>
        </p:nvSpPr>
        <p:spPr>
          <a:xfrm>
            <a:off x="8970264" y="1600200"/>
            <a:ext cx="2606040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num-4"/>
          <p:cNvSpPr/>
          <p:nvPr/>
        </p:nvSpPr>
        <p:spPr>
          <a:xfrm>
            <a:off x="9198864" y="182880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98864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747504" y="18288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Migrations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198864" y="24231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Rollout register; parity checks during dual-run</a:t>
            </a:r>
            <a:endParaRPr lang="en-US" sz="1400" dirty="0"/>
          </a:p>
        </p:txBody>
      </p:sp>
      <p:sp>
        <p:nvSpPr>
          <p:cNvPr id="23" name="gap-4"/>
          <p:cNvSpPr/>
          <p:nvPr/>
        </p:nvSpPr>
        <p:spPr>
          <a:xfrm>
            <a:off x="548640" y="3840480"/>
            <a:ext cx="2606040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num-5"/>
          <p:cNvSpPr/>
          <p:nvPr/>
        </p:nvSpPr>
        <p:spPr>
          <a:xfrm>
            <a:off x="777240" y="406908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4069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40690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AI governance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" y="46634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One AI label (14 variants today); AI question in root-cause analysis</a:t>
            </a:r>
            <a:endParaRPr lang="en-US" sz="1400" dirty="0"/>
          </a:p>
        </p:txBody>
      </p:sp>
      <p:sp>
        <p:nvSpPr>
          <p:cNvPr id="28" name="gap-5"/>
          <p:cNvSpPr/>
          <p:nvPr/>
        </p:nvSpPr>
        <p:spPr>
          <a:xfrm>
            <a:off x="3355848" y="3840480"/>
            <a:ext cx="2606040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num-6"/>
          <p:cNvSpPr/>
          <p:nvPr/>
        </p:nvSpPr>
        <p:spPr>
          <a:xfrm>
            <a:off x="3584448" y="406908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584448" y="4069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4133088" y="40690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Knowledge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3584448" y="46634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Backup owner per hotspot; design notes for the VC core</a:t>
            </a:r>
            <a:endParaRPr lang="en-US" sz="1400" dirty="0"/>
          </a:p>
        </p:txBody>
      </p:sp>
      <p:sp>
        <p:nvSpPr>
          <p:cNvPr id="33" name="gap-6"/>
          <p:cNvSpPr/>
          <p:nvPr/>
        </p:nvSpPr>
        <p:spPr>
          <a:xfrm>
            <a:off x="6163056" y="3840480"/>
            <a:ext cx="2606040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num-7"/>
          <p:cNvSpPr/>
          <p:nvPr/>
        </p:nvSpPr>
        <p:spPr>
          <a:xfrm>
            <a:off x="6391656" y="406908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391656" y="4069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6940296" y="40690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Security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6391656" y="46634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Secret scanning in Jira and Confluence (credentials found)</a:t>
            </a:r>
            <a:endParaRPr lang="en-US" sz="1400" dirty="0"/>
          </a:p>
        </p:txBody>
      </p:sp>
      <p:sp>
        <p:nvSpPr>
          <p:cNvPr id="38" name="gap-7"/>
          <p:cNvSpPr/>
          <p:nvPr/>
        </p:nvSpPr>
        <p:spPr>
          <a:xfrm>
            <a:off x="8970264" y="3840480"/>
            <a:ext cx="2606040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num-8"/>
          <p:cNvSpPr/>
          <p:nvPr/>
        </p:nvSpPr>
        <p:spPr>
          <a:xfrm>
            <a:off x="9198864" y="406908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198864" y="4069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8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9747504" y="40690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Data platform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9198864" y="46634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Monthly automated refresh; add Sonar, CI/CD and incident data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End goal: rare escapes, caught early, never repeated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Zero production bugs is not a realistic target. These five measures are, and we already have their baselines.</a:t>
            </a:r>
            <a:endParaRPr lang="en-US" sz="1600" dirty="0"/>
          </a:p>
        </p:txBody>
      </p:sp>
      <p:sp>
        <p:nvSpPr>
          <p:cNvPr id="4" name="goal-0"/>
          <p:cNvSpPr/>
          <p:nvPr/>
        </p:nvSpPr>
        <p:spPr>
          <a:xfrm>
            <a:off x="548640" y="2011680"/>
            <a:ext cx="2057400" cy="41148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1945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Fewer escapes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432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Today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0175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8.9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6576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Target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9319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&lt;= 9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61772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valid pilot bugs per month (13 since May 2026); then -50% vs 2025</a:t>
            </a:r>
            <a:endParaRPr lang="en-US" sz="1300" dirty="0"/>
          </a:p>
        </p:txBody>
      </p:sp>
      <p:sp>
        <p:nvSpPr>
          <p:cNvPr id="11" name="goal-1"/>
          <p:cNvSpPr/>
          <p:nvPr/>
        </p:nvSpPr>
        <p:spPr>
          <a:xfrm>
            <a:off x="2798064" y="2011680"/>
            <a:ext cx="2057400" cy="41148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980944" y="21945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No repeats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980944" y="27432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Today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980944" y="30175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38%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2980944" y="36576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Target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980944" y="39319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&gt;= 90%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2980944" y="461772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valid bugs closed with a regression test</a:t>
            </a:r>
            <a:endParaRPr lang="en-US" sz="1300" dirty="0"/>
          </a:p>
        </p:txBody>
      </p:sp>
      <p:sp>
        <p:nvSpPr>
          <p:cNvPr id="18" name="goal-2"/>
          <p:cNvSpPr/>
          <p:nvPr/>
        </p:nvSpPr>
        <p:spPr>
          <a:xfrm>
            <a:off x="5047488" y="2011680"/>
            <a:ext cx="2057400" cy="41148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230368" y="21945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Caught first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230368" y="27432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Today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230368" y="30175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5230368" y="36576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Target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230368" y="39319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&gt;= 50%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5230368" y="461772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bugs found by monitoring before customers (baseline missing)</a:t>
            </a:r>
            <a:endParaRPr lang="en-US" sz="1300" dirty="0"/>
          </a:p>
        </p:txBody>
      </p:sp>
      <p:sp>
        <p:nvSpPr>
          <p:cNvPr id="25" name="goal-3"/>
          <p:cNvSpPr/>
          <p:nvPr/>
        </p:nvSpPr>
        <p:spPr>
          <a:xfrm>
            <a:off x="7296912" y="2011680"/>
            <a:ext cx="2057400" cy="41148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79792" y="21945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Less impact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479792" y="27432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Today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479792" y="30175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3.8</a:t>
            </a:r>
            <a:endParaRPr lang="en-US" sz="2600" dirty="0"/>
          </a:p>
        </p:txBody>
      </p:sp>
      <p:sp>
        <p:nvSpPr>
          <p:cNvPr id="29" name="Text 27"/>
          <p:cNvSpPr txBox="1"/>
          <p:nvPr/>
        </p:nvSpPr>
        <p:spPr>
          <a:xfrm>
            <a:off x="7479792" y="36576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Target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479792" y="39319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&lt;= 2.5</a:t>
            </a:r>
            <a:endParaRPr lang="en-US" sz="2600" dirty="0"/>
          </a:p>
        </p:txBody>
      </p:sp>
      <p:sp>
        <p:nvSpPr>
          <p:cNvPr id="31" name="Text 29"/>
          <p:cNvSpPr txBox="1"/>
          <p:nvPr/>
        </p:nvSpPr>
        <p:spPr>
          <a:xfrm>
            <a:off x="7479792" y="461772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incidents per pilot bug</a:t>
            </a:r>
            <a:endParaRPr lang="en-US" sz="1300" dirty="0"/>
          </a:p>
        </p:txBody>
      </p:sp>
      <p:sp>
        <p:nvSpPr>
          <p:cNvPr id="32" name="goal-4"/>
          <p:cNvSpPr/>
          <p:nvPr/>
        </p:nvSpPr>
        <p:spPr>
          <a:xfrm>
            <a:off x="9546336" y="2011680"/>
            <a:ext cx="2057400" cy="41148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729216" y="21945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Trusted tests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9729216" y="27432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Today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9729216" y="30175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1.2-79%</a:t>
            </a:r>
            <a:endParaRPr lang="en-US" sz="2600" dirty="0"/>
          </a:p>
        </p:txBody>
      </p:sp>
      <p:sp>
        <p:nvSpPr>
          <p:cNvPr id="36" name="Text 34"/>
          <p:cNvSpPr txBox="1"/>
          <p:nvPr/>
        </p:nvSpPr>
        <p:spPr>
          <a:xfrm>
            <a:off x="9729216" y="36576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Target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9729216" y="39319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&gt;= 95%</a:t>
            </a:r>
            <a:endParaRPr lang="en-US" sz="2600" dirty="0"/>
          </a:p>
        </p:txBody>
      </p:sp>
      <p:sp>
        <p:nvSpPr>
          <p:cNvPr id="38" name="Text 36"/>
          <p:cNvSpPr txBox="1"/>
          <p:nvPr/>
        </p:nvSpPr>
        <p:spPr>
          <a:xfrm>
            <a:off x="9729216" y="461772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E2E pass rate over 14 days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What we need from management</a:t>
            </a:r>
            <a:endParaRPr lang="en-US" sz="3000" dirty="0"/>
          </a:p>
        </p:txBody>
      </p:sp>
      <p:sp>
        <p:nvSpPr>
          <p:cNvPr id="3" name="num-1"/>
          <p:cNvSpPr/>
          <p:nvPr/>
        </p:nvSpPr>
        <p:spPr>
          <a:xfrm>
            <a:off x="548640" y="150876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46304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Name a sponsor and an owner per critical flow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90195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No decision owner exists today</a:t>
            </a:r>
            <a:endParaRPr lang="en-US" sz="1400" dirty="0"/>
          </a:p>
        </p:txBody>
      </p:sp>
      <p:sp>
        <p:nvSpPr>
          <p:cNvPr id="7" name="num-2"/>
          <p:cNvSpPr/>
          <p:nvPr/>
        </p:nvSpPr>
        <p:spPr>
          <a:xfrm>
            <a:off x="548640" y="256032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51460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Approve the gates for the Orchestration Core pilot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95351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Start with test health, PR rules, code owners</a:t>
            </a:r>
            <a:endParaRPr lang="en-US" sz="1400" dirty="0"/>
          </a:p>
        </p:txBody>
      </p:sp>
      <p:sp>
        <p:nvSpPr>
          <p:cNvPr id="11" name="num-3"/>
          <p:cNvSpPr/>
          <p:nvPr/>
        </p:nvSpPr>
        <p:spPr>
          <a:xfrm>
            <a:off x="548640" y="361188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56616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Give access to Sonar, CI/CD and incident data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00507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Needed to measure detection and to track progress</a:t>
            </a:r>
            <a:endParaRPr lang="en-US" sz="1400" dirty="0"/>
          </a:p>
        </p:txBody>
      </p:sp>
      <p:sp>
        <p:nvSpPr>
          <p:cNvPr id="15" name="num-4"/>
          <p:cNvSpPr/>
          <p:nvPr/>
        </p:nvSpPr>
        <p:spPr>
          <a:xfrm>
            <a:off x="548640" y="466344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663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461772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Require a migration rollout register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505663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No production rollout dates exist for 2026 migrations</a:t>
            </a:r>
            <a:endParaRPr lang="en-US" sz="1400" dirty="0"/>
          </a:p>
        </p:txBody>
      </p:sp>
      <p:sp>
        <p:nvSpPr>
          <p:cNvPr id="19" name="timeline"/>
          <p:cNvSpPr/>
          <p:nvPr/>
        </p:nvSpPr>
        <p:spPr>
          <a:xfrm>
            <a:off x="7680960" y="1463040"/>
            <a:ext cx="3931920" cy="4069080"/>
          </a:xfrm>
          <a:prstGeom prst="roundRect">
            <a:avLst>
              <a:gd name="adj" fmla="val 1860"/>
            </a:avLst>
          </a:prstGeom>
          <a:solidFill>
            <a:srgbClr val="4A5A72"/>
          </a:solidFill>
          <a:ln w="12700">
            <a:solidFill>
              <a:srgbClr val="4A5A7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955280" y="16459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Timeline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955280" y="22402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Now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098280" y="22402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Pilot gates and measures start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955280" y="30175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2027-Q1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098280" y="30175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Re-test the AI effect (90-day window)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955280" y="37947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2027-04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098280" y="37947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Pilot review against the 5 targets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955280" y="45720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Then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9098280" y="45720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Extend to Analytics and Data and WFM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uality Signal">
  <a:themeElements>
    <a:clrScheme name="Quality Signal">
      <a:dk1>
        <a:srgbClr val="1B2A41"/>
      </a:dk1>
      <a:lt1>
        <a:srgbClr val="FFFFFF"/>
      </a:lt1>
      <a:dk2>
        <a:srgbClr val="4A5A72"/>
      </a:dk2>
      <a:lt2>
        <a:srgbClr val="EEF2F6"/>
      </a:lt2>
      <a:accent1>
        <a:srgbClr val="C8443D"/>
      </a:accent1>
      <a:accent2>
        <a:srgbClr val="2A8C82"/>
      </a:accent2>
      <a:accent3>
        <a:srgbClr val="E0A030"/>
      </a:accent3>
      <a:accent4>
        <a:srgbClr val="8796AB"/>
      </a:accent4>
      <a:accent5>
        <a:srgbClr val="1B2A41"/>
      </a:accent5>
      <a:accent6>
        <a:srgbClr val="C9D3DF"/>
      </a:accent6>
      <a:hlink>
        <a:srgbClr val="2A8C82"/>
      </a:hlink>
      <a:folHlink>
        <a:srgbClr val="4A5A72"/>
      </a:folHlink>
    </a:clrScheme>
    <a:fontScheme name="Quality Sign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Quality 2026 - Research Summary</dc:title>
  <dc:subject>PptxGenJS Presentation</dc:subject>
  <dc:creator>QA Architecture</dc:creator>
  <cp:lastModifiedBy>QA Architecture</cp:lastModifiedBy>
  <cp:revision>1</cp:revision>
  <dcterms:created xsi:type="dcterms:W3CDTF">2026-10-22T14:57:23Z</dcterms:created>
  <dcterms:modified xsi:type="dcterms:W3CDTF">2026-10-22T14:57:23Z</dcterms:modified>
</cp:coreProperties>
</file>