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ffsite" id="{cb20f66a-2018-9d29-3665-cb53ce52b92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Follow-up fix within 90 days, hotspot code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Follow-up fix rate</c:v>
                </c:pt>
              </c:strCache>
            </c:strRef>
          </c:tx>
          <c:spPr>
            <a:solidFill>
              <a:srgbClr val="879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79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44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Small PR</c:v>
                  </c:pt>
                  <c:pt idx="1">
                    <c:v>Large PR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talk: agree on a gate model that works for hundreds of pods that each choose their own way of working. Evidence: 40 teams studied, Jan 2025 -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P1/P2 and all-bug counts: Jan-Sep 2026 vs 2025, MI investigation tickets removed. 96% = P1 incidents that entered through customer cases (intake channel is a proxy for first detection).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Hotspot = top code directories by customer-bug-fix density. Follow-up fix = a later fix PR on the same files within 90 days. AI matched risk ratio 0.78-0.84, not significant. AI PRs in hotspots: 5% to 47%.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Trust: DORA = large survey (medium). METR = small RCT (high). Faros = vendor telemetry (low). Some numbers are from secondary write-ups; verify before quoting. Detail: docs/08-pod-quality/external-research-2024-2026.md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current-gates check 2026-10-25 (Confluence + GitHub, read-only). Nothing in the agent set blocks a change; agents run locally by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idea: leadership fixes WHAT must be true and HOW it is measured. Pods choose HOW to get there. Gates check evidence, not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common because they make outcomes measurable and comparable, not because one way of working is better. RCA for P1/P2 is already 80-100% in every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person can hold more than one role. Detail: pod quality playbook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Team Topologies (enabling and platform teams) and DORA 2025 (platform quality decides AI payoff). The paved road is a product: if pods avoid it, QA&amp;RM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mode shown. Most gates start Visible and block only after evidence. Full list with 29 gates, mode today and evidence: docs/08-pod-quality/gate-catalog.md.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starting levels: 1 quarter Visible, false blocks under 5%, retire after 2 quarters with no value. Experiments and the Visible stage set final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we provide (test cases, automation, RIA, mutation) are suggested means. A pod that proves the same outcome another way passes the same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teams studied, 4 archetypes, re-assessed quarterly. Teams choose how to meet a requirement; the model fixes what must be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Baseline: 2025 vs 2026, MI investigation tickets removed. Each pod compares with its own baseline. D2, D4, D5 per pod need ServiceNow read access (request REQ0120210 pending).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Baseline: 2025 vs 2026, MI investigation tickets removed. Each pod compares with its own baseline. D2, D4, D5 per pod need ServiceNow read access (request REQ0120210 pending).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Limits: team-to-service map missing (U-26/U-27 open), no SME validation yet, ServiceNow P1 fall unexplained (C-08). Blocking gates are tested in X3/X4 before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explicit yes/no on each of the four. Discussion prompt: what is the one gate your pod would never accept, and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Quality gates for pods and AI  |  Evidence as of 2026-10-28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Quality gates for pods and AI  |  Evidence as of 2026-10-28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Quality gates for pods and AI: one contract, free means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What 2025-2026 taught us, and the gate model we propose  |  QA &amp; RM  |  Offsite kickoff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happened in 2025-2026</a:t>
            </a:r>
            <a:endParaRPr lang="en-US" sz="3000" dirty="0"/>
          </a:p>
        </p:txBody>
      </p:sp>
      <p:sp>
        <p:nvSpPr>
          <p:cNvPr id="4" name="stat-0"/>
          <p:cNvSpPr/>
          <p:nvPr/>
        </p:nvSpPr>
        <p:spPr>
          <a:xfrm>
            <a:off x="54864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P1/P2 customer-found bugs</a:t>
            </a:r>
            <a:endParaRPr lang="en-US" sz="1500" dirty="0"/>
          </a:p>
        </p:txBody>
      </p:sp>
      <p:sp>
        <p:nvSpPr>
          <p:cNvPr id="7" name="stat-1"/>
          <p:cNvSpPr/>
          <p:nvPr/>
        </p:nvSpPr>
        <p:spPr>
          <a:xfrm>
            <a:off x="3355848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84448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584448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all customer-found bugs</a:t>
            </a:r>
            <a:endParaRPr lang="en-US" sz="1500" dirty="0"/>
          </a:p>
        </p:txBody>
      </p:sp>
      <p:sp>
        <p:nvSpPr>
          <p:cNvPr id="10" name="stat-2"/>
          <p:cNvSpPr/>
          <p:nvPr/>
        </p:nvSpPr>
        <p:spPr>
          <a:xfrm>
            <a:off x="6163056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91656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391656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 P1 incidents enter through customer cases</a:t>
            </a:r>
            <a:endParaRPr lang="en-US" sz="1500" dirty="0"/>
          </a:p>
        </p:txBody>
      </p:sp>
      <p:sp>
        <p:nvSpPr>
          <p:cNvPr id="13" name="stat-3"/>
          <p:cNvSpPr/>
          <p:nvPr/>
        </p:nvSpPr>
        <p:spPr>
          <a:xfrm>
            <a:off x="8970264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 valid bugs are business-correctness failures</a:t>
            </a:r>
            <a:endParaRPr lang="en-US" sz="1500" dirty="0"/>
          </a:p>
        </p:txBody>
      </p:sp>
      <p:sp>
        <p:nvSpPr>
          <p:cNvPr id="16" name="so-what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So what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Quality fell in severity, not in volume.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Customers find our worst problems before we do.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 follows change size in hotspot code, not AI use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-0"/>
          <p:cNvSpPr/>
          <p:nvPr/>
        </p:nvSpPr>
        <p:spPr>
          <a:xfrm>
            <a:off x="6675120" y="1417320"/>
            <a:ext cx="4937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0372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is not riskier per change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90372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Matched risk ratio 0.78-0.84 vs non-AI changes</a:t>
            </a:r>
            <a:endParaRPr lang="en-US" sz="1400" dirty="0"/>
          </a:p>
        </p:txBody>
      </p:sp>
      <p:sp>
        <p:nvSpPr>
          <p:cNvPr id="8" name="ins-1"/>
          <p:cNvSpPr/>
          <p:nvPr/>
        </p:nvSpPr>
        <p:spPr>
          <a:xfrm>
            <a:off x="6675120" y="2971800"/>
            <a:ext cx="4937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03720" y="3154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adds volume and size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PRs in hotspot code: 5% to 47%</a:t>
            </a:r>
            <a:endParaRPr lang="en-US" sz="1400" dirty="0"/>
          </a:p>
        </p:txBody>
      </p:sp>
      <p:sp>
        <p:nvSpPr>
          <p:cNvPr id="11" name="ins-2"/>
          <p:cNvSpPr/>
          <p:nvPr/>
        </p:nvSpPr>
        <p:spPr>
          <a:xfrm>
            <a:off x="6675120" y="4526280"/>
            <a:ext cx="4937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0372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Teams differ strongly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bug: 1.1 to 10.4 between teams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Outside research 2024-2026 points the same way</a:t>
            </a:r>
            <a:endParaRPr lang="en-US" sz="3000" dirty="0"/>
          </a:p>
        </p:txBody>
      </p:sp>
      <p:graphicFrame>
        <p:nvGraphicFramePr>
          <p:cNvPr id="5" name="outsid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011680"/>
                <a:gridCol w="3566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we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is an amplifier. Small batches and platform quality decide the payoff.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contract; build a good paved road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AI adoption links to lower delivery stability.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on change size and risk, not author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Experienced developers were 19% slower with AI, but felt faster.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AI by outcomes, not opinion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40-45% of AI code samples had security flaws.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Pearce; Veracode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security scan blocking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Agent-made tests work when tools filter them first.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TestGen-LLM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output is untrusted until checked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study shows blocking gates beat advisory gates in autonomous teams.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before we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today's gates do not protect us</a:t>
            </a:r>
            <a:endParaRPr lang="en-US" sz="3000" dirty="0"/>
          </a:p>
        </p:txBody>
      </p:sp>
      <p:graphicFrame>
        <p:nvGraphicFramePr>
          <p:cNvPr id="6" name="toda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see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no gate blocks a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Aikido and PR / Jira-ID checks block; Sonar required in 1 of 5 pilot repos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is a form, not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26.4 domain pages show TBD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E2E signal is not trusted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pipeline passed 1.2% of runs; failures ignored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fields are unused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of ~15 Jira quality fields filled &lt; 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gate set for every 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differ 10x in incidents per bug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Policy on paper does not change outcomes.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model: fixed outcomes, risk-based floor, free means</a:t>
            </a:r>
            <a:endParaRPr lang="en-US" sz="3000" dirty="0"/>
          </a:p>
        </p:txBody>
      </p:sp>
      <p:sp>
        <p:nvSpPr>
          <p:cNvPr id="4" name="layer-0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for every pod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6002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Intake rule, bug fields, 8 metrics, owner map</a:t>
            </a:r>
            <a:endParaRPr lang="en-US" sz="1700" dirty="0"/>
          </a:p>
        </p:txBody>
      </p:sp>
      <p:sp>
        <p:nvSpPr>
          <p:cNvPr id="10" name="layer-1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-2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floor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Blocks only where data proves risk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2004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Hotspot PR rules, Sonar, toggles, escape-to-test, data-based Go/No-Go</a:t>
            </a:r>
            <a:endParaRPr lang="en-US" sz="1700" dirty="0"/>
          </a:p>
        </p:txBody>
      </p:sp>
      <p:sp>
        <p:nvSpPr>
          <p:cNvPr id="16" name="layer-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-3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means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pod chooses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48006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Structure, process, agents, test tools, RIA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 1: the contract every pod keeps</a:t>
            </a:r>
            <a:endParaRPr lang="en-US" sz="3000" dirty="0"/>
          </a:p>
        </p:txBody>
      </p:sp>
      <p:sp>
        <p:nvSpPr>
          <p:cNvPr id="4" name="ct-0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Intake rule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Defect, MI investigation and expectation gap are separate types</a:t>
            </a:r>
            <a:endParaRPr lang="en-US" sz="1500" dirty="0"/>
          </a:p>
        </p:txBody>
      </p:sp>
      <p:sp>
        <p:nvSpPr>
          <p:cNvPr id="7" name="ct-1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Bug fields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Failure type, detected-by, causing change, affected customers</a:t>
            </a:r>
            <a:endParaRPr lang="en-US" sz="1500" dirty="0"/>
          </a:p>
        </p:txBody>
      </p:sp>
      <p:sp>
        <p:nvSpPr>
          <p:cNvPr id="10" name="ct-2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RCA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valid P1/P2 bug gets a root cause (already 80-100%)</a:t>
            </a:r>
            <a:endParaRPr lang="en-US" sz="1500" dirty="0"/>
          </a:p>
        </p:txBody>
      </p:sp>
      <p:sp>
        <p:nvSpPr>
          <p:cNvPr id="13" name="ct-3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Owner map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663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Pod -&gt; service -&gt; repo, with owners and backups</a:t>
            </a:r>
            <a:endParaRPr lang="en-US" sz="1500" dirty="0"/>
          </a:p>
        </p:txBody>
      </p:sp>
      <p:sp>
        <p:nvSpPr>
          <p:cNvPr id="16" name="ct-4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Monthly view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4663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metrics per pod against its own baseline</a:t>
            </a:r>
            <a:endParaRPr lang="en-US" sz="1500" dirty="0"/>
          </a:p>
        </p:txBody>
      </p:sp>
      <p:sp>
        <p:nvSpPr>
          <p:cNvPr id="19" name="ct-5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Same bar for all authors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4663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Human or AI: the same checks apply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every pod must have (roles, not job titles)</a:t>
            </a:r>
            <a:endParaRPr lang="en-US" sz="3000" dirty="0"/>
          </a:p>
        </p:txBody>
      </p:sp>
      <p:sp>
        <p:nvSpPr>
          <p:cNvPr id="4" name="cap-0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Quality owner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Owns the contract, metric review, exception log</a:t>
            </a:r>
            <a:endParaRPr lang="en-US" sz="1400" dirty="0"/>
          </a:p>
        </p:txBody>
      </p:sp>
      <p:sp>
        <p:nvSpPr>
          <p:cNvPr id="9" name="cap-1"/>
          <p:cNvSpPr/>
          <p:nvPr/>
        </p:nvSpPr>
        <p:spPr>
          <a:xfrm>
            <a:off x="335584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2"/>
          <p:cNvSpPr/>
          <p:nvPr/>
        </p:nvSpPr>
        <p:spPr>
          <a:xfrm>
            <a:off x="3538728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3872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87368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Release owner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538728" y="2240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Brings data to Go/No-Go</a:t>
            </a:r>
            <a:endParaRPr lang="en-US" sz="1400" dirty="0"/>
          </a:p>
        </p:txBody>
      </p:sp>
      <p:sp>
        <p:nvSpPr>
          <p:cNvPr id="14" name="cap-2"/>
          <p:cNvSpPr/>
          <p:nvPr/>
        </p:nvSpPr>
        <p:spPr>
          <a:xfrm>
            <a:off x="6163056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-3"/>
          <p:cNvSpPr/>
          <p:nvPr/>
        </p:nvSpPr>
        <p:spPr>
          <a:xfrm>
            <a:off x="6345936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45936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94576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Code owners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2240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 map entry; 2+ owners per hotspot path</a:t>
            </a:r>
            <a:endParaRPr lang="en-US" sz="1400" dirty="0"/>
          </a:p>
        </p:txBody>
      </p:sp>
      <p:sp>
        <p:nvSpPr>
          <p:cNvPr id="19" name="cap-3"/>
          <p:cNvSpPr/>
          <p:nvPr/>
        </p:nvSpPr>
        <p:spPr>
          <a:xfrm>
            <a:off x="897026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-4"/>
          <p:cNvSpPr/>
          <p:nvPr/>
        </p:nvSpPr>
        <p:spPr>
          <a:xfrm>
            <a:off x="9153144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53144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701784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 strategy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153144" y="2240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page: levels, tools, escaped bug to test</a:t>
            </a:r>
            <a:endParaRPr lang="en-US" sz="1400" dirty="0"/>
          </a:p>
        </p:txBody>
      </p:sp>
      <p:sp>
        <p:nvSpPr>
          <p:cNvPr id="24" name="cap-4"/>
          <p:cNvSpPr/>
          <p:nvPr/>
        </p:nvSpPr>
        <p:spPr>
          <a:xfrm>
            <a:off x="548640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5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agreement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572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agents, who reviews, how AI use is labeled</a:t>
            </a:r>
            <a:endParaRPr lang="en-US" sz="1400" dirty="0"/>
          </a:p>
        </p:txBody>
      </p:sp>
      <p:sp>
        <p:nvSpPr>
          <p:cNvPr id="29" name="cap-5"/>
          <p:cNvSpPr/>
          <p:nvPr/>
        </p:nvSpPr>
        <p:spPr>
          <a:xfrm>
            <a:off x="3355848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-6"/>
          <p:cNvSpPr/>
          <p:nvPr/>
        </p:nvSpPr>
        <p:spPr>
          <a:xfrm>
            <a:off x="3538728" y="3931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38728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087368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Production link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3538728" y="4572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Alerts reach the pod; detected-by recorded</a:t>
            </a:r>
            <a:endParaRPr lang="en-US" sz="1400" dirty="0"/>
          </a:p>
        </p:txBody>
      </p:sp>
      <p:sp>
        <p:nvSpPr>
          <p:cNvPr id="34" name="cap-6"/>
          <p:cNvSpPr/>
          <p:nvPr/>
        </p:nvSpPr>
        <p:spPr>
          <a:xfrm>
            <a:off x="6163056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num-7"/>
          <p:cNvSpPr/>
          <p:nvPr/>
        </p:nvSpPr>
        <p:spPr>
          <a:xfrm>
            <a:off x="6345936" y="3931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45936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894576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Test-signal care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6345936" y="4572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failing suite has an owner and a triage date</a:t>
            </a:r>
            <a:endParaRPr lang="en-US" sz="1400" dirty="0"/>
          </a:p>
        </p:txBody>
      </p:sp>
      <p:sp>
        <p:nvSpPr>
          <p:cNvPr id="39" name="cap-7"/>
          <p:cNvSpPr/>
          <p:nvPr/>
        </p:nvSpPr>
        <p:spPr>
          <a:xfrm>
            <a:off x="8970264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num-8"/>
          <p:cNvSpPr/>
          <p:nvPr/>
        </p:nvSpPr>
        <p:spPr>
          <a:xfrm>
            <a:off x="9153144" y="3931920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53144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701784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Self-assessment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9153144" y="4572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 questions each quarter, sent to QA&amp;RM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QA&amp;RM role: enable, provide the road, govern</a:t>
            </a:r>
            <a:endParaRPr lang="en-US" sz="3000" dirty="0"/>
          </a:p>
        </p:txBody>
      </p:sp>
      <p:sp>
        <p:nvSpPr>
          <p:cNvPr id="4" name="role-h-0"/>
          <p:cNvSpPr/>
          <p:nvPr/>
        </p:nvSpPr>
        <p:spPr>
          <a:xfrm>
            <a:off x="548640" y="14173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Enabling</a:t>
            </a:r>
            <a:endParaRPr lang="en-US" sz="2200" dirty="0"/>
          </a:p>
        </p:txBody>
      </p:sp>
      <p:sp>
        <p:nvSpPr>
          <p:cNvPr id="6" name="role-b-0"/>
          <p:cNvSpPr/>
          <p:nvPr/>
        </p:nvSpPr>
        <p:spPr>
          <a:xfrm>
            <a:off x="54864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68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Coach test strategy, risk and hotspot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 help, then step back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Not: own a pod's tests</a:t>
            </a:r>
            <a:endParaRPr lang="en-US" sz="1400" dirty="0"/>
          </a:p>
        </p:txBody>
      </p:sp>
      <p:sp>
        <p:nvSpPr>
          <p:cNvPr id="9" name="role-h-1"/>
          <p:cNvSpPr/>
          <p:nvPr/>
        </p:nvSpPr>
        <p:spPr>
          <a:xfrm>
            <a:off x="4297680" y="14173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Paved road</a:t>
            </a:r>
            <a:endParaRPr lang="en-US" sz="2200" dirty="0"/>
          </a:p>
        </p:txBody>
      </p:sp>
      <p:sp>
        <p:nvSpPr>
          <p:cNvPr id="11" name="role-b-1"/>
          <p:cNvSpPr/>
          <p:nvPr/>
        </p:nvSpPr>
        <p:spPr>
          <a:xfrm>
            <a:off x="429768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2468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Agents, pipeline templates, dashboards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Gate checks ready to use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Not: force pods to use them</a:t>
            </a:r>
            <a:endParaRPr lang="en-US" sz="1400" dirty="0"/>
          </a:p>
        </p:txBody>
      </p:sp>
      <p:sp>
        <p:nvSpPr>
          <p:cNvPr id="14" name="role-h-2"/>
          <p:cNvSpPr/>
          <p:nvPr/>
        </p:nvSpPr>
        <p:spPr>
          <a:xfrm>
            <a:off x="8046720" y="14173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Governance</a:t>
            </a:r>
            <a:endParaRPr lang="en-US" sz="2200" dirty="0"/>
          </a:p>
        </p:txBody>
      </p:sp>
      <p:sp>
        <p:nvSpPr>
          <p:cNvPr id="16" name="role-b-2"/>
          <p:cNvSpPr/>
          <p:nvPr/>
        </p:nvSpPr>
        <p:spPr>
          <a:xfrm>
            <a:off x="804672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2468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Contract, gate catalog, metrics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Experiments and Go/No-Go data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Not: approve every release by hand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 pod that leaves the paved road keeps the same gates and must still leave the evidence.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 2: gates along the SDLC (target mode)</a:t>
            </a:r>
            <a:endParaRPr lang="en-US" sz="3000" dirty="0"/>
          </a:p>
        </p:txBody>
      </p:sp>
      <p:graphicFrame>
        <p:nvGraphicFramePr>
          <p:cNvPr id="11" name="sdl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301752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Blocks: all pods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Blocks: T1 or hotspot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Intake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type; bug fields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link; state and toggle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(audit)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with the change; AI use labeled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key; hotspot size, owner,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Size, owner,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Sonar, security scan; healthy E2E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Sonar, scan, E2E when 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Release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with data; toggle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with data; toggle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 and chaos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Deploy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rollout; sanity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Post-deploy sanity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Toggle-off verified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Operate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monitors; SLOs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(after X2)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Learn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RCA; escaped bug gets a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link or 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Every gate earns its place: prove before we block</a:t>
            </a:r>
            <a:endParaRPr lang="en-US" sz="3000" dirty="0"/>
          </a:p>
        </p:txBody>
      </p:sp>
      <p:sp>
        <p:nvSpPr>
          <p:cNvPr id="4" name="life-0"/>
          <p:cNvSpPr/>
          <p:nvPr/>
        </p:nvSpPr>
        <p:spPr>
          <a:xfrm>
            <a:off x="548640" y="1554480"/>
            <a:ext cx="2103120" cy="822960"/>
          </a:xfrm>
          <a:prstGeom prst="chevron">
            <a:avLst/>
          </a:prstGeom>
          <a:solidFill>
            <a:srgbClr val="4A5A7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Proposed</a:t>
            </a:r>
            <a:endParaRPr lang="en-US" sz="1500" dirty="0"/>
          </a:p>
        </p:txBody>
      </p:sp>
      <p:sp>
        <p:nvSpPr>
          <p:cNvPr id="6" name="lifec-0"/>
          <p:cNvSpPr/>
          <p:nvPr/>
        </p:nvSpPr>
        <p:spPr>
          <a:xfrm>
            <a:off x="548640" y="260604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743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Owner, metric, exception path defined</a:t>
            </a:r>
            <a:endParaRPr lang="en-US" sz="1500" dirty="0"/>
          </a:p>
        </p:txBody>
      </p:sp>
      <p:sp>
        <p:nvSpPr>
          <p:cNvPr id="8" name="life-1"/>
          <p:cNvSpPr/>
          <p:nvPr/>
        </p:nvSpPr>
        <p:spPr>
          <a:xfrm>
            <a:off x="2788920" y="1554480"/>
            <a:ext cx="2103120" cy="82296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0896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Visible</a:t>
            </a:r>
            <a:endParaRPr lang="en-US" sz="1500" dirty="0"/>
          </a:p>
        </p:txBody>
      </p:sp>
      <p:sp>
        <p:nvSpPr>
          <p:cNvPr id="10" name="lifec-1"/>
          <p:cNvSpPr/>
          <p:nvPr/>
        </p:nvSpPr>
        <p:spPr>
          <a:xfrm>
            <a:off x="2788920" y="260604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2743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Measured 1 quarter; does not stop work</a:t>
            </a:r>
            <a:endParaRPr lang="en-US" sz="1500" dirty="0"/>
          </a:p>
        </p:txBody>
      </p:sp>
      <p:sp>
        <p:nvSpPr>
          <p:cNvPr id="12" name="life-2"/>
          <p:cNvSpPr/>
          <p:nvPr/>
        </p:nvSpPr>
        <p:spPr>
          <a:xfrm>
            <a:off x="5029200" y="1554480"/>
            <a:ext cx="2103120" cy="822960"/>
          </a:xfrm>
          <a:prstGeom prst="chevron">
            <a:avLst/>
          </a:prstGeom>
          <a:solidFill>
            <a:srgbClr val="C8443D"/>
          </a:solidFill>
          <a:ln w="12700">
            <a:solidFill>
              <a:srgbClr val="C844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4924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Block per scope</a:t>
            </a:r>
            <a:endParaRPr lang="en-US" sz="1500" dirty="0"/>
          </a:p>
        </p:txBody>
      </p:sp>
      <p:sp>
        <p:nvSpPr>
          <p:cNvPr id="14" name="lifec-2"/>
          <p:cNvSpPr/>
          <p:nvPr/>
        </p:nvSpPr>
        <p:spPr>
          <a:xfrm>
            <a:off x="5029200" y="260604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66360" y="2743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Beats control; false blocks &lt; 5%</a:t>
            </a:r>
            <a:endParaRPr lang="en-US" sz="1500" dirty="0"/>
          </a:p>
        </p:txBody>
      </p:sp>
      <p:sp>
        <p:nvSpPr>
          <p:cNvPr id="16" name="life-3"/>
          <p:cNvSpPr/>
          <p:nvPr/>
        </p:nvSpPr>
        <p:spPr>
          <a:xfrm>
            <a:off x="7269480" y="1554480"/>
            <a:ext cx="2103120" cy="82296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Review</a:t>
            </a:r>
            <a:endParaRPr lang="en-US" sz="1500" dirty="0"/>
          </a:p>
        </p:txBody>
      </p:sp>
      <p:sp>
        <p:nvSpPr>
          <p:cNvPr id="18" name="lifec-3"/>
          <p:cNvSpPr/>
          <p:nvPr/>
        </p:nvSpPr>
        <p:spPr>
          <a:xfrm>
            <a:off x="7269480" y="260604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06640" y="2743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quarter: value, false blocks, exceptions</a:t>
            </a:r>
            <a:endParaRPr lang="en-US" sz="1500" dirty="0"/>
          </a:p>
        </p:txBody>
      </p:sp>
      <p:sp>
        <p:nvSpPr>
          <p:cNvPr id="20" name="life-4"/>
          <p:cNvSpPr/>
          <p:nvPr/>
        </p:nvSpPr>
        <p:spPr>
          <a:xfrm>
            <a:off x="9509760" y="1554480"/>
            <a:ext cx="2103120" cy="822960"/>
          </a:xfrm>
          <a:prstGeom prst="chevron">
            <a:avLst/>
          </a:prstGeom>
          <a:solidFill>
            <a:srgbClr val="8796AB"/>
          </a:solidFill>
          <a:ln w="12700">
            <a:solidFill>
              <a:srgbClr val="8796A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2980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Retire</a:t>
            </a:r>
            <a:endParaRPr lang="en-US" sz="1500" dirty="0"/>
          </a:p>
        </p:txBody>
      </p:sp>
      <p:sp>
        <p:nvSpPr>
          <p:cNvPr id="22" name="lifec-4"/>
          <p:cNvSpPr/>
          <p:nvPr/>
        </p:nvSpPr>
        <p:spPr>
          <a:xfrm>
            <a:off x="9509760" y="260604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46920" y="2743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catch or no outcome change for 2 quarters</a:t>
            </a:r>
            <a:endParaRPr lang="en-US" sz="1500" dirty="0"/>
          </a:p>
        </p:txBody>
      </p:sp>
      <p:sp>
        <p:nvSpPr>
          <p:cNvPr id="24" name="modes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Modes: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Advice (a means, not checked)  |  Visible (on the dashboard)  |  Audit (sample check)  |  Block (required check, exceptions logged)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and pods: one rule set for every author</a:t>
            </a:r>
            <a:endParaRPr lang="en-US" sz="3000" dirty="0"/>
          </a:p>
        </p:txBody>
      </p:sp>
      <p:sp>
        <p:nvSpPr>
          <p:cNvPr id="4" name="ai-left"/>
          <p:cNvSpPr/>
          <p:nvPr/>
        </p:nvSpPr>
        <p:spPr>
          <a:xfrm>
            <a:off x="548640" y="1417320"/>
            <a:ext cx="5394960" cy="4617720"/>
          </a:xfrm>
          <a:prstGeom prst="roundRect">
            <a:avLst>
              <a:gd name="adj" fmla="val 158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We do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Keep AI-assisted development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Apply the same gates to every author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Scale review by change size and code area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Offer agents as a paved road, not a duty</a:t>
            </a:r>
            <a:endParaRPr lang="en-US" sz="1800" dirty="0"/>
          </a:p>
        </p:txBody>
      </p:sp>
      <p:sp>
        <p:nvSpPr>
          <p:cNvPr id="7" name="ai-right"/>
          <p:cNvSpPr/>
          <p:nvPr/>
        </p:nvSpPr>
        <p:spPr>
          <a:xfrm>
            <a:off x="6217920" y="1417320"/>
            <a:ext cx="5394960" cy="4617720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We do not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an AI-only gate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Require a specific tool or agent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Block on a score before we prove it works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raw bug counts as the quality number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Pods differ: the floor is common, the depth follows risk</a:t>
            </a:r>
            <a:endParaRPr lang="en-US" sz="3000" dirty="0"/>
          </a:p>
        </p:txBody>
      </p:sp>
      <p:graphicFrame>
        <p:nvGraphicFramePr>
          <p:cNvPr id="14" name="pod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4206240"/>
                <a:gridCol w="3566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High impact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depth on detection and recovery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per bug and P1/P2 share above median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Fast growing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re-homing first, then triage and capacity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growth is renames and splits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High noise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and expectation gaps before defects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50%+ of reports invalid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Stable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and common floor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signal that more control helps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Each pod is compared with its own 2025 baseline and with similar pods, never with one shared target.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Eight metrics every pod sees (1 of 2)</a:t>
            </a:r>
            <a:endParaRPr lang="en-US" sz="3000" dirty="0"/>
          </a:p>
        </p:txBody>
      </p:sp>
      <p:graphicFrame>
        <p:nvGraphicFramePr>
          <p:cNvPr id="15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2468880"/>
                <a:gridCol w="21031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(2025 to 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supports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Business correctness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bugs where the product does the wrong thing. Data, routing, contact lifecycle. Weighted by severity.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Bugs: 295 to 325 (+10%). P1/P2 share: 52% to 70%.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reports only. Billing is rarely reported.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invest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Availability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incidents per quarter. Customers affected.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by customer channel: about 150 to 76 per quarter.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access pending. Reason for the fall is unknown.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work and release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Slow-system bugs. SLO breaches.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performance bugs in total.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SLO data yet.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impact that we find before customers.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of P1 incidents come through customer cases.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channel is only a proxy for first detection.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investment and Go/No-Go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Eight metrics every pod sees (2 of 2)</a:t>
            </a:r>
            <a:endParaRPr lang="en-US" sz="3000" dirty="0"/>
          </a:p>
        </p:txBody>
      </p:sp>
      <p:graphicFrame>
        <p:nvGraphicFramePr>
          <p:cNvPr id="16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2468880"/>
                <a:gridCol w="21031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(2025 to 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supports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 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restore service. Time to fix a bug.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of P1 under 4 hours. Bug fix median 10 days, both years.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time is not restore time.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 Change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caused by fixes. Emergency changes. Recent changes.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Fix-caused: 23.5% to 27.1%. Emergency changes x2.9 since June 2026.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is known for 25% of bugs only.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depth for fixes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Non-recurrence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fixes hold? Repeat bugs and reopens.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Repeat: 3.9% to 1.2-1.6%. Reopen: 5.2% to 5.6%.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model. One rater.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fixes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 Expectation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closed as works as designed that are real gaps.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of reports closed this way. 42.5% of those are real gaps.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of 40 only.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and documentation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Rule: a pod outside its own range for 2 months gets an investigation, not a punishment.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Prove before we block: timeline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Now (Nov 2026)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Intake rule and bug fields (X1)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Sonar required everywhere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Mutation score visible, not blocking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Go/No-Go with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Correctness monitor in shadow (X2)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Q1 2027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1031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Hotspot PR rules (X3)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Bug-fix review (X4)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Expectation-gap triage (X5)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Monthly pod review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April 2027 and after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1031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Results vs control pods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Decide what blocks, per tier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Spread proven practices to all pods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Decide on RIA, mutation, harness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 limits: owner map missing, no SME validation yet, ServiceNow data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we ask from you today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Agree the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One contract, a small blocking floor, free means</a:t>
            </a:r>
            <a:endParaRPr lang="en-US" sz="1700" dirty="0"/>
          </a:p>
        </p:txBody>
      </p:sp>
      <p:sp>
        <p:nvSpPr>
          <p:cNvPr id="7" name="num-2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Name a quality owner per pod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651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Owner map, bug fields, quarterly self-assessment</a:t>
            </a:r>
            <a:endParaRPr lang="en-US" sz="1700" dirty="0"/>
          </a:p>
        </p:txBody>
      </p:sp>
      <p:sp>
        <p:nvSpPr>
          <p:cNvPr id="11" name="num-3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40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Volunteer pods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840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For the experiments X1-X5, with control pods</a:t>
            </a:r>
            <a:endParaRPr lang="en-US" sz="1700" dirty="0"/>
          </a:p>
        </p:txBody>
      </p:sp>
      <p:sp>
        <p:nvSpPr>
          <p:cNvPr id="15" name="num-4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Decide the Dec 15 mutation gate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Visible in Sonar first; block per scope after evidence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 Signal">
  <a:themeElements>
    <a:clrScheme name="Quality Signal">
      <a:dk1>
        <a:srgbClr val="1B2A41"/>
      </a:dk1>
      <a:lt1>
        <a:srgbClr val="FFFFFF"/>
      </a:lt1>
      <a:dk2>
        <a:srgbClr val="4A5A72"/>
      </a:dk2>
      <a:lt2>
        <a:srgbClr val="EEF2F6"/>
      </a:lt2>
      <a:accent1>
        <a:srgbClr val="C8443D"/>
      </a:accent1>
      <a:accent2>
        <a:srgbClr val="2A8C82"/>
      </a:accent2>
      <a:accent3>
        <a:srgbClr val="E0A030"/>
      </a:accent3>
      <a:accent4>
        <a:srgbClr val="8796AB"/>
      </a:accent4>
      <a:accent5>
        <a:srgbClr val="1B2A41"/>
      </a:accent5>
      <a:accent6>
        <a:srgbClr val="C9D3DF"/>
      </a:accent6>
      <a:hlink>
        <a:srgbClr val="2A8C82"/>
      </a:hlink>
      <a:folHlink>
        <a:srgbClr val="4A5A72"/>
      </a:folHlink>
    </a:clrScheme>
    <a:fontScheme name="Qualit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gates for pods and AI - Offsite kickoff</dc:title>
  <dc:subject>PptxGenJS Presentation</dc:subject>
  <dc:creator>QA Architecture</dc:creator>
  <cp:lastModifiedBy>QA Architecture</cp:lastModifiedBy>
  <cp:revision>1</cp:revision>
  <dcterms:created xsi:type="dcterms:W3CDTF">2026-10-28T16:09:33Z</dcterms:created>
  <dcterms:modified xsi:type="dcterms:W3CDTF">2026-10-28T16:09:33Z</dcterms:modified>
</cp:coreProperties>
</file>