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ffsite" id="{ab3695ca-2d81-9aa6-81e2-d614f8c1c4a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Follow-up fix within 90 days, hotspot code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Follow-up fix rate</c:v>
                </c:pt>
              </c:strCache>
            </c:strRef>
          </c:tx>
          <c:spPr>
            <a:solidFill>
              <a:srgbClr val="8796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796A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44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Small PR</c:v>
                  </c:pt>
                  <c:pt idx="1">
                    <c:v>Large PR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</c:v>
                </c:pt>
                <c:pt idx="1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l"/>
        <c:majorGridlines>
          <c:spPr>
            <a:ln w="9525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 of this talk: agree on a gate model that works for hundreds of pods that each choose their own way of working. Evidence: 40 teams studied, Jan 2025 - Oct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P1/P2 and all-bug counts: Jan-Sep 2026 vs 2025, MI investigation tickets removed. 96% = P1 incidents that entered through customer cases (intake channel is a proxy for first detection).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Hotspot = top code directories by customer-bug-fix density. Follow-up fix = a later fix PR on the same files within 90 days. AI matched risk ratio 0.78-0.84, not significant. AI PRs in hotspots: 5% to 47%.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current-gates check 2026-10-25 (Confluence + GitHub, read-only). Nothing in the agent set blocks a change; agents run locally by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idea: leadership fixes WHAT must be true and HOW it is measured. Pods choose HOW to get there. Gates check evidence, not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common because they make outcomes measurable and comparable, not because one way of working is better. RCA for P1/P2 is already 80-100% in every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Blocking is justified only where a risk is proven. Everything else waits for experiment results (X1-X5). Mutation: visible in Sonar first (D-040).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 we provide (test cases, automation, RIA, mutation) are suggested means. A pod that proves the same outcome another way passes the same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teams studied, 4 archetypes, re-assessed quarterly. Teams choose how to meet a requirement; the model fixes what must be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2025 vs 2026, MI investigation tickets removed. Each pod compares with its own baseline. D2, D4, D5 per pod need ServiceNow read access (request REQ0120210 pending).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2025 vs 2026, MI investigation tickets removed. Each pod compares with its own baseline. D2, D4, D5 per pod need ServiceNow read access (request REQ0120210 pending).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Limits: team-to-service map missing (U-26/U-27 open), no SME validation yet, ServiceNow P1 fall unexplained (C-08). Blocking gates are tested in X3/X4 before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explicit yes/no on each of the four. Discussion prompt: what is the one gate your pod would never accept, and why?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Title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Subtitle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Quality gates for pods and AI  |  Evidence as of 2026-10-25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Quality gates for pods and AI  |  Evidence as of 2026-10-25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Quality gates for pods and AI: one contract, free means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What 2025-2026 taught us, and the gate model we propose  |  QA &amp; RM  |  Offsite kickoff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happened in 2025-2026</a:t>
            </a:r>
            <a:endParaRPr lang="en-US" sz="3000" dirty="0"/>
          </a:p>
        </p:txBody>
      </p:sp>
      <p:sp>
        <p:nvSpPr>
          <p:cNvPr id="4" name="stat-0"/>
          <p:cNvSpPr/>
          <p:nvPr/>
        </p:nvSpPr>
        <p:spPr>
          <a:xfrm>
            <a:off x="54864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+49%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P1/P2 customer-found bugs</a:t>
            </a:r>
            <a:endParaRPr lang="en-US" sz="1500" dirty="0"/>
          </a:p>
        </p:txBody>
      </p:sp>
      <p:sp>
        <p:nvSpPr>
          <p:cNvPr id="7" name="stat-1"/>
          <p:cNvSpPr/>
          <p:nvPr/>
        </p:nvSpPr>
        <p:spPr>
          <a:xfrm>
            <a:off x="3355848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84448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584448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all customer-found bugs</a:t>
            </a:r>
            <a:endParaRPr lang="en-US" sz="1500" dirty="0"/>
          </a:p>
        </p:txBody>
      </p:sp>
      <p:sp>
        <p:nvSpPr>
          <p:cNvPr id="10" name="stat-2"/>
          <p:cNvSpPr/>
          <p:nvPr/>
        </p:nvSpPr>
        <p:spPr>
          <a:xfrm>
            <a:off x="6163056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91656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6391656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of P1 incidents enter through customer cases</a:t>
            </a:r>
            <a:endParaRPr lang="en-US" sz="1500" dirty="0"/>
          </a:p>
        </p:txBody>
      </p:sp>
      <p:sp>
        <p:nvSpPr>
          <p:cNvPr id="13" name="stat-3"/>
          <p:cNvSpPr/>
          <p:nvPr/>
        </p:nvSpPr>
        <p:spPr>
          <a:xfrm>
            <a:off x="8970264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98864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46%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9198864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of valid bugs are business-correctness failures</a:t>
            </a:r>
            <a:endParaRPr lang="en-US" sz="1500" dirty="0"/>
          </a:p>
        </p:txBody>
      </p:sp>
      <p:sp>
        <p:nvSpPr>
          <p:cNvPr id="16" name="so-what"/>
          <p:cNvSpPr/>
          <p:nvPr/>
        </p:nvSpPr>
        <p:spPr>
          <a:xfrm>
            <a:off x="548640" y="4023360"/>
            <a:ext cx="11064240" cy="201168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2062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So what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6634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Quality fell in severity, not in volume.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Customers find our worst problems before we do.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Risk sits in large changes in hotspot code, not in AI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7607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ins-0"/>
          <p:cNvSpPr/>
          <p:nvPr/>
        </p:nvSpPr>
        <p:spPr>
          <a:xfrm>
            <a:off x="6675120" y="1417320"/>
            <a:ext cx="4937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903720" y="1600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is not riskier per change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90372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Matched risk ratio 0.78-0.84 vs non-AI changes</a:t>
            </a:r>
            <a:endParaRPr lang="en-US" sz="1400" dirty="0"/>
          </a:p>
        </p:txBody>
      </p:sp>
      <p:sp>
        <p:nvSpPr>
          <p:cNvPr id="8" name="ins-1"/>
          <p:cNvSpPr/>
          <p:nvPr/>
        </p:nvSpPr>
        <p:spPr>
          <a:xfrm>
            <a:off x="6675120" y="2971800"/>
            <a:ext cx="4937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03720" y="3154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adds volume and size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03720" y="36576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PRs in hotspot code: 5% to 47%</a:t>
            </a:r>
            <a:endParaRPr lang="en-US" sz="1400" dirty="0"/>
          </a:p>
        </p:txBody>
      </p:sp>
      <p:sp>
        <p:nvSpPr>
          <p:cNvPr id="11" name="ins-2"/>
          <p:cNvSpPr/>
          <p:nvPr/>
        </p:nvSpPr>
        <p:spPr>
          <a:xfrm>
            <a:off x="6675120" y="4526280"/>
            <a:ext cx="4937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903720" y="4709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Teams differ strongly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903720" y="5212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Incidents per bug: 1.1 to 10.4 between teams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Why today's gates do not protect us</a:t>
            </a:r>
            <a:endParaRPr lang="en-US" sz="3000" dirty="0"/>
          </a:p>
        </p:txBody>
      </p:sp>
      <p:graphicFrame>
        <p:nvGraphicFramePr>
          <p:cNvPr id="5" name="toda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see today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no gate blocks a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Aikido and PR / Jira-ID checks block; Sonar required in 1 of 5 pilot repos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Go/No-Go is a form, not data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26.4 domain pages show TBD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E2E signal is not trusted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 pipeline passed 1.2% of runs; failures ignored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fields are unused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of ~15 Jira quality fields filled &lt; 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gate set for every team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Teams differ 10x in incidents per bug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Policy on paper does not change outcomes.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model: fixed outcomes, risk-based floor, free means</a:t>
            </a:r>
            <a:endParaRPr lang="en-US" sz="3000" dirty="0"/>
          </a:p>
        </p:txBody>
      </p:sp>
      <p:sp>
        <p:nvSpPr>
          <p:cNvPr id="4" name="layer-0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-1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Same for every pod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16002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Intake rule, bug fields, 8 metrics, owner map</a:t>
            </a:r>
            <a:endParaRPr lang="en-US" sz="1700" dirty="0"/>
          </a:p>
        </p:txBody>
      </p:sp>
      <p:sp>
        <p:nvSpPr>
          <p:cNvPr id="10" name="layer-1"/>
          <p:cNvSpPr/>
          <p:nvPr/>
        </p:nvSpPr>
        <p:spPr>
          <a:xfrm>
            <a:off x="548640" y="301752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-2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floor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1645920" y="3749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Blocks only where data proves risk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32004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Hotspot PR rules, Sonar, toggles, escape-to-test, data-based Go/No-Go</a:t>
            </a:r>
            <a:endParaRPr lang="en-US" sz="1700" dirty="0"/>
          </a:p>
        </p:txBody>
      </p:sp>
      <p:sp>
        <p:nvSpPr>
          <p:cNvPr id="16" name="layer-2"/>
          <p:cNvSpPr/>
          <p:nvPr/>
        </p:nvSpPr>
        <p:spPr>
          <a:xfrm>
            <a:off x="548640" y="461772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num-3"/>
          <p:cNvSpPr/>
          <p:nvPr/>
        </p:nvSpPr>
        <p:spPr>
          <a:xfrm>
            <a:off x="822960" y="5074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074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4800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means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1645920" y="53492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pod chooses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48006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Structure, process, agents, test tools, RIA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Layer 1: the contract every pod keeps</a:t>
            </a:r>
            <a:endParaRPr lang="en-US" sz="3000" dirty="0"/>
          </a:p>
        </p:txBody>
      </p:sp>
      <p:sp>
        <p:nvSpPr>
          <p:cNvPr id="4" name="ct-0"/>
          <p:cNvSpPr/>
          <p:nvPr/>
        </p:nvSpPr>
        <p:spPr>
          <a:xfrm>
            <a:off x="54864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Intake rule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Defect, MI investigation and expectation gap are separate types</a:t>
            </a:r>
            <a:endParaRPr lang="en-US" sz="1500" dirty="0"/>
          </a:p>
        </p:txBody>
      </p:sp>
      <p:sp>
        <p:nvSpPr>
          <p:cNvPr id="7" name="ct-1"/>
          <p:cNvSpPr/>
          <p:nvPr/>
        </p:nvSpPr>
        <p:spPr>
          <a:xfrm>
            <a:off x="429768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62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Bug fields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Failure type, detected-by, causing change, affected customers</a:t>
            </a:r>
            <a:endParaRPr lang="en-US" sz="1500" dirty="0"/>
          </a:p>
        </p:txBody>
      </p:sp>
      <p:sp>
        <p:nvSpPr>
          <p:cNvPr id="10" name="ct-2"/>
          <p:cNvSpPr/>
          <p:nvPr/>
        </p:nvSpPr>
        <p:spPr>
          <a:xfrm>
            <a:off x="804672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RCA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valid P1/P2 bug gets a root cause (already 80-100%)</a:t>
            </a:r>
            <a:endParaRPr lang="en-US" sz="1500" dirty="0"/>
          </a:p>
        </p:txBody>
      </p:sp>
      <p:sp>
        <p:nvSpPr>
          <p:cNvPr id="13" name="ct-3"/>
          <p:cNvSpPr/>
          <p:nvPr/>
        </p:nvSpPr>
        <p:spPr>
          <a:xfrm>
            <a:off x="54864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Owner map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6634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Pod -&gt; service -&gt; repo, with owners and backups</a:t>
            </a:r>
            <a:endParaRPr lang="en-US" sz="1500" dirty="0"/>
          </a:p>
        </p:txBody>
      </p:sp>
      <p:sp>
        <p:nvSpPr>
          <p:cNvPr id="16" name="ct-4"/>
          <p:cNvSpPr/>
          <p:nvPr/>
        </p:nvSpPr>
        <p:spPr>
          <a:xfrm>
            <a:off x="429768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2628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Monthly view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526280" y="46634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metrics per pod against its own baseline</a:t>
            </a:r>
            <a:endParaRPr lang="en-US" sz="1500" dirty="0"/>
          </a:p>
        </p:txBody>
      </p:sp>
      <p:sp>
        <p:nvSpPr>
          <p:cNvPr id="19" name="ct-5"/>
          <p:cNvSpPr/>
          <p:nvPr/>
        </p:nvSpPr>
        <p:spPr>
          <a:xfrm>
            <a:off x="804672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7532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Same bar for all authors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46634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Human or AI: the same checks apply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Layer 2: the few checks that block, along the SDLC</a:t>
            </a:r>
            <a:endParaRPr lang="en-US" sz="3000" dirty="0"/>
          </a:p>
        </p:txBody>
      </p:sp>
      <p:sp>
        <p:nvSpPr>
          <p:cNvPr id="4" name="st-0"/>
          <p:cNvSpPr/>
          <p:nvPr/>
        </p:nvSpPr>
        <p:spPr>
          <a:xfrm>
            <a:off x="548640" y="1463040"/>
            <a:ext cx="1737360" cy="73152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Intake</a:t>
            </a:r>
            <a:endParaRPr lang="en-US" sz="1300" dirty="0"/>
          </a:p>
        </p:txBody>
      </p:sp>
      <p:sp>
        <p:nvSpPr>
          <p:cNvPr id="6" name="stc-0"/>
          <p:cNvSpPr/>
          <p:nvPr/>
        </p:nvSpPr>
        <p:spPr>
          <a:xfrm>
            <a:off x="548640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Bug type and fields required to close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Jira required fields</a:t>
            </a:r>
            <a:endParaRPr lang="en-US" sz="1300" dirty="0"/>
          </a:p>
        </p:txBody>
      </p:sp>
      <p:sp>
        <p:nvSpPr>
          <p:cNvPr id="9" name="st-1"/>
          <p:cNvSpPr/>
          <p:nvPr/>
        </p:nvSpPr>
        <p:spPr>
          <a:xfrm>
            <a:off x="2414016" y="1463040"/>
            <a:ext cx="1737360" cy="73152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88336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Design</a:t>
            </a:r>
            <a:endParaRPr lang="en-US" sz="1300" dirty="0"/>
          </a:p>
        </p:txBody>
      </p:sp>
      <p:sp>
        <p:nvSpPr>
          <p:cNvPr id="11" name="stc-1"/>
          <p:cNvSpPr/>
          <p:nvPr/>
        </p:nvSpPr>
        <p:spPr>
          <a:xfrm>
            <a:off x="2414016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23744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Spec link, state and toggle section for risky Epics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23744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Audit sample</a:t>
            </a:r>
            <a:endParaRPr lang="en-US" sz="1300" dirty="0"/>
          </a:p>
        </p:txBody>
      </p:sp>
      <p:sp>
        <p:nvSpPr>
          <p:cNvPr id="14" name="st-2"/>
          <p:cNvSpPr/>
          <p:nvPr/>
        </p:nvSpPr>
        <p:spPr>
          <a:xfrm>
            <a:off x="4279392" y="1463040"/>
            <a:ext cx="1737360" cy="73152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53712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Pull request</a:t>
            </a:r>
            <a:endParaRPr lang="en-US" sz="1300" dirty="0"/>
          </a:p>
        </p:txBody>
      </p:sp>
      <p:sp>
        <p:nvSpPr>
          <p:cNvPr id="16" name="stc-2"/>
          <p:cNvSpPr/>
          <p:nvPr/>
        </p:nvSpPr>
        <p:spPr>
          <a:xfrm>
            <a:off x="4279392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89120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Hotspot: size limit, code-owner review, tests. Sonar required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389120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Blocks</a:t>
            </a:r>
            <a:endParaRPr lang="en-US" sz="1300" dirty="0"/>
          </a:p>
        </p:txBody>
      </p:sp>
      <p:sp>
        <p:nvSpPr>
          <p:cNvPr id="19" name="st-3"/>
          <p:cNvSpPr/>
          <p:nvPr/>
        </p:nvSpPr>
        <p:spPr>
          <a:xfrm>
            <a:off x="6144768" y="1463040"/>
            <a:ext cx="1737360" cy="73152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19088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Test health</a:t>
            </a:r>
            <a:endParaRPr lang="en-US" sz="1300" dirty="0"/>
          </a:p>
        </p:txBody>
      </p:sp>
      <p:sp>
        <p:nvSpPr>
          <p:cNvPr id="21" name="stc-3"/>
          <p:cNvSpPr/>
          <p:nvPr/>
        </p:nvSpPr>
        <p:spPr>
          <a:xfrm>
            <a:off x="6144768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54496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suite blocks only while it holds its pass level 14 days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254496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Blocks when healthy</a:t>
            </a:r>
            <a:endParaRPr lang="en-US" sz="1300" dirty="0"/>
          </a:p>
        </p:txBody>
      </p:sp>
      <p:sp>
        <p:nvSpPr>
          <p:cNvPr id="24" name="st-4"/>
          <p:cNvSpPr/>
          <p:nvPr/>
        </p:nvSpPr>
        <p:spPr>
          <a:xfrm>
            <a:off x="8010144" y="1463040"/>
            <a:ext cx="1737360" cy="73152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84464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Release</a:t>
            </a:r>
            <a:endParaRPr lang="en-US" sz="1300" dirty="0"/>
          </a:p>
        </p:txBody>
      </p:sp>
      <p:sp>
        <p:nvSpPr>
          <p:cNvPr id="26" name="stc-4"/>
          <p:cNvSpPr/>
          <p:nvPr/>
        </p:nvSpPr>
        <p:spPr>
          <a:xfrm>
            <a:off x="8010144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119872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Toggle registered; data-based Go/No-Go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Blocks</a:t>
            </a:r>
            <a:endParaRPr lang="en-US" sz="1300" dirty="0"/>
          </a:p>
        </p:txBody>
      </p:sp>
      <p:sp>
        <p:nvSpPr>
          <p:cNvPr id="29" name="st-5"/>
          <p:cNvSpPr/>
          <p:nvPr/>
        </p:nvSpPr>
        <p:spPr>
          <a:xfrm>
            <a:off x="9875520" y="1463040"/>
            <a:ext cx="1737360" cy="73152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4984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Post-release</a:t>
            </a:r>
            <a:endParaRPr lang="en-US" sz="1300" dirty="0"/>
          </a:p>
        </p:txBody>
      </p:sp>
      <p:sp>
        <p:nvSpPr>
          <p:cNvPr id="31" name="stc-5"/>
          <p:cNvSpPr/>
          <p:nvPr/>
        </p:nvSpPr>
        <p:spPr>
          <a:xfrm>
            <a:off x="9875520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985248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Monitors for routing, lifecycle and report-data invariants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9985248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Alerts before customers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Red = blocks. Every check asks for evidence. How a pod produces it is the pod's choice.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AI and pods: one rule set, because AI is not the risk</a:t>
            </a:r>
            <a:endParaRPr lang="en-US" sz="3000" dirty="0"/>
          </a:p>
        </p:txBody>
      </p:sp>
      <p:sp>
        <p:nvSpPr>
          <p:cNvPr id="4" name="ai-left"/>
          <p:cNvSpPr/>
          <p:nvPr/>
        </p:nvSpPr>
        <p:spPr>
          <a:xfrm>
            <a:off x="548640" y="1417320"/>
            <a:ext cx="5394960" cy="4617720"/>
          </a:xfrm>
          <a:prstGeom prst="roundRect">
            <a:avLst>
              <a:gd name="adj" fmla="val 158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We do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488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AI-assisted development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Apply the same gates to every author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Scale review by change size and code area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Offer agents as a paved road, not a duty</a:t>
            </a:r>
            <a:endParaRPr lang="en-US" sz="1800" dirty="0"/>
          </a:p>
        </p:txBody>
      </p:sp>
      <p:sp>
        <p:nvSpPr>
          <p:cNvPr id="7" name="ai-right"/>
          <p:cNvSpPr/>
          <p:nvPr/>
        </p:nvSpPr>
        <p:spPr>
          <a:xfrm>
            <a:off x="6217920" y="1417320"/>
            <a:ext cx="5394960" cy="4617720"/>
          </a:xfrm>
          <a:prstGeom prst="roundRect">
            <a:avLst>
              <a:gd name="adj" fmla="val 158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We do not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21488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Add an AI-only gate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Require a specific tool or agent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Block on a score before we prove it works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Use raw bug counts as the quality number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Pods differ: the floor is common, the depth follows risk</a:t>
            </a:r>
            <a:endParaRPr lang="en-US" sz="3000" dirty="0"/>
          </a:p>
        </p:txBody>
      </p:sp>
      <p:graphicFrame>
        <p:nvGraphicFramePr>
          <p:cNvPr id="10" name="pod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4206240"/>
                <a:gridCol w="35661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High impact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depth on detection and recovery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Incidents per bug and P1/P2 share above median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Fast growing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re-homing first, then triage and capacity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growth is renames and splits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High noise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 and expectation gaps before defects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50%+ of reports invalid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D. Stable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and common floor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signal that more control helps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Each pod is compared with its own 2025 baseline and with similar pods, never with one shared target.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Eight metrics every pod sees (1 of 2)</a:t>
            </a:r>
            <a:endParaRPr lang="en-US" sz="3000" dirty="0"/>
          </a:p>
        </p:txBody>
      </p:sp>
      <p:graphicFrame>
        <p:nvGraphicFramePr>
          <p:cNvPr id="11" name="metr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34640"/>
                <a:gridCol w="2468880"/>
                <a:gridCol w="210312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measures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 (2025 to 2026)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limit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it supports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Business correctness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bugs where the product does the wrong thing. Data, routing, contact lifecycle. Weighted by severity.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Bugs: 295 to 325 (+10%). P1/P2 share: 52% to 70%.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reports only. Billing is rarely reported.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to invest first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Availability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incidents per quarter. Customers affected.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by customer channel: about 150 to 76 per quarter.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ServiceNow access pending. Reason for the fall is unknown.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work and release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 Performance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Slow-system bugs. SLO breaches.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performance bugs in total.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SLO data yet.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 Detection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impact that we find before customers.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of P1 incidents come through customer cases.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 channel is only a proxy for first detection.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investment and Go/No-Go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Eight metrics every pod sees (2 of 2)</a:t>
            </a:r>
            <a:endParaRPr lang="en-US" sz="3000" dirty="0"/>
          </a:p>
        </p:txBody>
      </p:sp>
      <p:graphicFrame>
        <p:nvGraphicFramePr>
          <p:cNvPr id="12" name="metr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34640"/>
                <a:gridCol w="2468880"/>
                <a:gridCol w="210312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measures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 (2025 to 2026)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limit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it supports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D5 Recovery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restore service. Time to fix a bug.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 of P1 under 4 hours. Bug fix median 10 days, both years.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 time is not restore time.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capacity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D6 Change safety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Bugs caused by fixes. Emergency changes. Recent changes.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Fix-caused: 23.5% to 27.1%. Emergency changes x2.9 since June 2026.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 is known for 25% of bugs only.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depth for fixes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 Non-recurrence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fixes hold? Repeat bugs and reopens.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Repeat: 3.9% to 1.2-1.6%. Reopen: 5.2% to 5.6%.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model. One rater.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Whether fixes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D8 Expectation fit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closed as works as designed that are real gaps.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of reports closed this way. 42.5% of those are real gaps.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of 40 only.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 and documentation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Rule: a pod outside its own range for 2 months gets an investigation, not a punishment.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Prove before we block: timeline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Now (Nov 2026)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Intake rule and bug fields (X1)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Sonar required everywhere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Mutation score visible, not blocking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Go/No-Go with data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Correctness monitor in shadow (X2)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Q1 2027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21031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Hotspot PR rules (X3)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Bug-fix review (X4)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Expectation-gap triage (X5)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Monthly pod review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April 2027 and after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1031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Results vs control pods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Decide what blocks, per tier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Spread proven practices to all pods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Decide on RIA, mutation, harness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Open limits: owner map missing, no SME validation yet, ServiceNow data pending.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What we ask from you today</a:t>
            </a:r>
            <a:endParaRPr lang="en-US" sz="3000" dirty="0"/>
          </a:p>
        </p:txBody>
      </p:sp>
      <p:sp>
        <p:nvSpPr>
          <p:cNvPr id="3" name="num-1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4630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Agree the model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4630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One contract, a small blocking floor, free means</a:t>
            </a:r>
            <a:endParaRPr lang="en-US" sz="1700" dirty="0"/>
          </a:p>
        </p:txBody>
      </p:sp>
      <p:sp>
        <p:nvSpPr>
          <p:cNvPr id="7" name="num-2"/>
          <p:cNvSpPr/>
          <p:nvPr/>
        </p:nvSpPr>
        <p:spPr>
          <a:xfrm>
            <a:off x="548640" y="2743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51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Name an owner per pod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6517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For the pod-to-service-to-code map and bug fields</a:t>
            </a:r>
            <a:endParaRPr lang="en-US" sz="1700" dirty="0"/>
          </a:p>
        </p:txBody>
      </p:sp>
      <p:sp>
        <p:nvSpPr>
          <p:cNvPr id="11" name="num-3"/>
          <p:cNvSpPr/>
          <p:nvPr/>
        </p:nvSpPr>
        <p:spPr>
          <a:xfrm>
            <a:off x="548640" y="393192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8404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Volunteer pods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840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For the experiments X1-X5, with control pods</a:t>
            </a:r>
            <a:endParaRPr lang="en-US" sz="1700" dirty="0"/>
          </a:p>
        </p:txBody>
      </p:sp>
      <p:sp>
        <p:nvSpPr>
          <p:cNvPr id="15" name="num-4"/>
          <p:cNvSpPr/>
          <p:nvPr/>
        </p:nvSpPr>
        <p:spPr>
          <a:xfrm>
            <a:off x="548640" y="5120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120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029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Decide the Dec 15 mutation gate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50292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Visible in Sonar first; block per scope after evidence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uality Signal">
  <a:themeElements>
    <a:clrScheme name="Quality Signal">
      <a:dk1>
        <a:srgbClr val="1B2A41"/>
      </a:dk1>
      <a:lt1>
        <a:srgbClr val="FFFFFF"/>
      </a:lt1>
      <a:dk2>
        <a:srgbClr val="4A5A72"/>
      </a:dk2>
      <a:lt2>
        <a:srgbClr val="EEF2F6"/>
      </a:lt2>
      <a:accent1>
        <a:srgbClr val="C8443D"/>
      </a:accent1>
      <a:accent2>
        <a:srgbClr val="2A8C82"/>
      </a:accent2>
      <a:accent3>
        <a:srgbClr val="E0A030"/>
      </a:accent3>
      <a:accent4>
        <a:srgbClr val="8796AB"/>
      </a:accent4>
      <a:accent5>
        <a:srgbClr val="1B2A41"/>
      </a:accent5>
      <a:accent6>
        <a:srgbClr val="C9D3DF"/>
      </a:accent6>
      <a:hlink>
        <a:srgbClr val="2A8C82"/>
      </a:hlink>
      <a:folHlink>
        <a:srgbClr val="4A5A72"/>
      </a:folHlink>
    </a:clrScheme>
    <a:fontScheme name="Quality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Quality gates for pods and AI - Offsite kickoff</dc:title>
  <dc:subject>PptxGenJS Presentation</dc:subject>
  <dc:creator>QA Architecture</dc:creator>
  <cp:lastModifiedBy>QA Architecture</cp:lastModifiedBy>
  <cp:revision>1</cp:revision>
  <dcterms:created xsi:type="dcterms:W3CDTF">2026-10-26T08:03:22Z</dcterms:created>
  <dcterms:modified xsi:type="dcterms:W3CDTF">2026-10-26T08:03:22Z</dcterms:modified>
</cp:coreProperties>
</file>