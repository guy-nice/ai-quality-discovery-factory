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tuation" id="{13eec3ae-b8ed-c8e2-3f42-3cac3d2e6463}">
          <p14:sldIdLst>
            <p14:sldId id="256"/>
            <p14:sldId id="257"/>
            <p14:sldId id="258"/>
            <p14:sldId id="259"/>
          </p14:sldIdLst>
        </p14:section>
        <p14:section name="Findings" id="{ffdb0fa0-2939-2c89-cb07-118c0bb6dce0}">
          <p14:sldIdLst>
            <p14:sldId id="260"/>
            <p14:sldId id="261"/>
            <p14:sldId id="262"/>
          </p14:sldIdLst>
        </p14:section>
        <p14:section name="Quality model" id="{2839de04-6991-08ea-18af-107431215ac5}">
          <p14:sldIdLst>
            <p14:sldId id="263"/>
            <p14:sldId id="264"/>
            <p14:sldId id="265"/>
          </p14:sldIdLst>
        </p14:section>
        <p14:section name="Action plan" id="{84084a3d-d4d3-24ab-9719-fd9640d81047}">
          <p14:sldIdLst>
            <p14:sldId id="266"/>
            <p14:sldId id="267"/>
            <p14:sldId id="268"/>
          </p14:sldIdLst>
        </p14:section>
        <p14:section name="Decisions" id="{522c4bb7-9ac1-9654-4567-8c4887d56118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Customer-found bugs per quarter (MI investigations removed)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P1/P2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112</c:v>
                </c:pt>
                <c:pt idx="1">
                  <c:v>138</c:v>
                </c:pt>
                <c:pt idx="2">
                  <c:v>157</c:v>
                </c:pt>
                <c:pt idx="3">
                  <c:v>164</c:v>
                </c:pt>
                <c:pt idx="4">
                  <c:v>153</c:v>
                </c:pt>
                <c:pt idx="5">
                  <c:v>151</c:v>
                </c:pt>
                <c:pt idx="6">
                  <c:v>185</c:v>
                </c:pt>
                <c:pt idx="7">
                  <c:v>172</c:v>
                </c:pt>
                <c:pt idx="8">
                  <c:v>187</c:v>
                </c:pt>
                <c:pt idx="9">
                  <c:v>171</c:v>
                </c:pt>
                <c:pt idx="10">
                  <c:v>179</c:v>
                </c:pt>
                <c:pt idx="11">
                  <c:v>155</c:v>
                </c:pt>
                <c:pt idx="12">
                  <c:v>186</c:v>
                </c:pt>
                <c:pt idx="13">
                  <c:v>178</c:v>
                </c:pt>
                <c:pt idx="14">
                  <c:v>199</c:v>
                </c:pt>
                <c:pt idx="15">
                  <c:v>185</c:v>
                </c:pt>
                <c:pt idx="16">
                  <c:v>173</c:v>
                </c:pt>
                <c:pt idx="17">
                  <c:v>120</c:v>
                </c:pt>
                <c:pt idx="18">
                  <c:v>167</c:v>
                </c:pt>
                <c:pt idx="19">
                  <c:v>242</c:v>
                </c:pt>
                <c:pt idx="20">
                  <c:v>170</c:v>
                </c:pt>
                <c:pt idx="21">
                  <c:v>257</c:v>
                </c:pt>
                <c:pt idx="22">
                  <c:v>258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P3/P4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Sheet1!$A$2:$A$24</c:f>
              <c:multiLvlStrCache>
                <c:ptCount val="23"/>
                <c:lvl>
                  <c:pt idx="0">
                    <c:v>21Q1</c:v>
                  </c:pt>
                  <c:pt idx="1">
                    <c:v>21Q2</c:v>
                  </c:pt>
                  <c:pt idx="2">
                    <c:v>21Q3</c:v>
                  </c:pt>
                  <c:pt idx="3">
                    <c:v>21Q4</c:v>
                  </c:pt>
                  <c:pt idx="4">
                    <c:v>22Q1</c:v>
                  </c:pt>
                  <c:pt idx="5">
                    <c:v>22Q2</c:v>
                  </c:pt>
                  <c:pt idx="6">
                    <c:v>22Q3</c:v>
                  </c:pt>
                  <c:pt idx="7">
                    <c:v>22Q4</c:v>
                  </c:pt>
                  <c:pt idx="8">
                    <c:v>23Q1</c:v>
                  </c:pt>
                  <c:pt idx="9">
                    <c:v>23Q2</c:v>
                  </c:pt>
                  <c:pt idx="10">
                    <c:v>23Q3</c:v>
                  </c:pt>
                  <c:pt idx="11">
                    <c:v>23Q4</c:v>
                  </c:pt>
                  <c:pt idx="12">
                    <c:v>24Q1</c:v>
                  </c:pt>
                  <c:pt idx="13">
                    <c:v>24Q2</c:v>
                  </c:pt>
                  <c:pt idx="14">
                    <c:v>24Q3</c:v>
                  </c:pt>
                  <c:pt idx="15">
                    <c:v>24Q4</c:v>
                  </c:pt>
                  <c:pt idx="16">
                    <c:v>25Q1</c:v>
                  </c:pt>
                  <c:pt idx="17">
                    <c:v>25Q2</c:v>
                  </c:pt>
                  <c:pt idx="18">
                    <c:v>25Q3</c:v>
                  </c:pt>
                  <c:pt idx="19">
                    <c:v>25Q4</c:v>
                  </c:pt>
                  <c:pt idx="20">
                    <c:v>26Q1</c:v>
                  </c:pt>
                  <c:pt idx="21">
                    <c:v>26Q2</c:v>
                  </c:pt>
                  <c:pt idx="22">
                    <c:v>26Q3</c:v>
                  </c:pt>
                </c:lvl>
              </c:multiLvlStrCache>
            </c:multiLvl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178</c:v>
                </c:pt>
                <c:pt idx="1">
                  <c:v>187</c:v>
                </c:pt>
                <c:pt idx="2">
                  <c:v>148</c:v>
                </c:pt>
                <c:pt idx="3">
                  <c:v>160</c:v>
                </c:pt>
                <c:pt idx="4">
                  <c:v>180</c:v>
                </c:pt>
                <c:pt idx="5">
                  <c:v>186</c:v>
                </c:pt>
                <c:pt idx="6">
                  <c:v>248</c:v>
                </c:pt>
                <c:pt idx="7">
                  <c:v>176</c:v>
                </c:pt>
                <c:pt idx="8">
                  <c:v>214</c:v>
                </c:pt>
                <c:pt idx="9">
                  <c:v>163</c:v>
                </c:pt>
                <c:pt idx="10">
                  <c:v>153</c:v>
                </c:pt>
                <c:pt idx="11">
                  <c:v>142</c:v>
                </c:pt>
                <c:pt idx="12">
                  <c:v>150</c:v>
                </c:pt>
                <c:pt idx="13">
                  <c:v>182</c:v>
                </c:pt>
                <c:pt idx="14">
                  <c:v>155</c:v>
                </c:pt>
                <c:pt idx="15">
                  <c:v>178</c:v>
                </c:pt>
                <c:pt idx="16">
                  <c:v>124</c:v>
                </c:pt>
                <c:pt idx="17">
                  <c:v>154</c:v>
                </c:pt>
                <c:pt idx="18">
                  <c:v>216</c:v>
                </c:pt>
                <c:pt idx="19">
                  <c:v>183</c:v>
                </c:pt>
                <c:pt idx="20">
                  <c:v>156</c:v>
                </c:pt>
                <c:pt idx="21">
                  <c:v>153</c:v>
                </c:pt>
                <c:pt idx="22">
                  <c:v>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MI investigation tickets logged as customer bugs, per month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 tickets</c:v>
                </c:pt>
              </c:strCache>
            </c:strRef>
          </c:tx>
          <c:spPr>
            <a:solidFill>
              <a:srgbClr val="8796AB"/>
            </a:solidFill>
            <a:effectLst/>
          </c:spPr>
          <c:invertIfNegative val="0"/>
          <c:dLbls>
            <c:numFmt formatCode="0;-0;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Sheet1!$A$2:$A$23</c:f>
              <c:multiLvlStrCache>
                <c:ptCount val="22"/>
                <c:lvl>
                  <c:pt idx="0">
                    <c:v>25-01</c:v>
                  </c:pt>
                  <c:pt idx="1">
                    <c:v>25-02</c:v>
                  </c:pt>
                  <c:pt idx="2">
                    <c:v>25-03</c:v>
                  </c:pt>
                  <c:pt idx="3">
                    <c:v>25-04</c:v>
                  </c:pt>
                  <c:pt idx="4">
                    <c:v>25-05</c:v>
                  </c:pt>
                  <c:pt idx="5">
                    <c:v>25-06</c:v>
                  </c:pt>
                  <c:pt idx="6">
                    <c:v>25-07</c:v>
                  </c:pt>
                  <c:pt idx="7">
                    <c:v>25-08</c:v>
                  </c:pt>
                  <c:pt idx="8">
                    <c:v>25-09</c:v>
                  </c:pt>
                  <c:pt idx="9">
                    <c:v>25-10</c:v>
                  </c:pt>
                  <c:pt idx="10">
                    <c:v>25-11</c:v>
                  </c:pt>
                  <c:pt idx="11">
                    <c:v>25-12</c:v>
                  </c:pt>
                  <c:pt idx="12">
                    <c:v>26-01</c:v>
                  </c:pt>
                  <c:pt idx="13">
                    <c:v>26-02</c:v>
                  </c:pt>
                  <c:pt idx="14">
                    <c:v>26-03</c:v>
                  </c:pt>
                  <c:pt idx="15">
                    <c:v>26-04</c:v>
                  </c:pt>
                  <c:pt idx="16">
                    <c:v>26-05</c:v>
                  </c:pt>
                  <c:pt idx="17">
                    <c:v>26-06</c:v>
                  </c:pt>
                  <c:pt idx="18">
                    <c:v>26-07</c:v>
                  </c:pt>
                  <c:pt idx="19">
                    <c:v>26-08</c:v>
                  </c:pt>
                  <c:pt idx="20">
                    <c:v>26-09</c:v>
                  </c:pt>
                  <c:pt idx="21">
                    <c:v>26-10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6</c:v>
                </c:pt>
                <c:pt idx="15">
                  <c:v>49</c:v>
                </c:pt>
                <c:pt idx="16">
                  <c:v>34</c:v>
                </c:pt>
                <c:pt idx="17">
                  <c:v>39</c:v>
                </c:pt>
                <c:pt idx="18">
                  <c:v>48</c:v>
                </c:pt>
                <c:pt idx="19">
                  <c:v>36</c:v>
                </c:pt>
                <c:pt idx="20">
                  <c:v>38</c:v>
                </c:pt>
                <c:pt idx="21">
                  <c:v>17</c:v>
                </c:pt>
              </c:numCache>
            </c:numRef>
          </c:val>
        </c:ser>
        <c:dLbls>
          <c:numFmt formatCode="0;-0;;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Valid customer-found bugs by failure type, 2025-2026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C844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</c:v>
                </c:pt>
                <c:pt idx="1">
                  <c:v>18</c:v>
                </c:pt>
                <c:pt idx="2">
                  <c:v>33</c:v>
                </c:pt>
                <c:pt idx="3">
                  <c:v>0</c:v>
                </c:pt>
                <c:pt idx="4">
                  <c:v>0</c:v>
                </c:pt>
                <c:pt idx="5">
                  <c:v>75</c:v>
                </c:pt>
                <c:pt idx="6">
                  <c:v>86</c:v>
                </c:pt>
                <c:pt idx="7">
                  <c:v>0</c:v>
                </c:pt>
                <c:pt idx="8">
                  <c:v>0</c:v>
                </c:pt>
                <c:pt idx="9">
                  <c:v>111</c:v>
                </c:pt>
                <c:pt idx="10">
                  <c:v>0</c:v>
                </c:pt>
                <c:pt idx="11">
                  <c:v>0</c:v>
                </c:pt>
                <c:pt idx="12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C9D3D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Billing</c:v>
                  </c:pt>
                  <c:pt idx="1">
                    <c:v>Agent state</c:v>
                  </c:pt>
                  <c:pt idx="2">
                    <c:v>WFM</c:v>
                  </c:pt>
                  <c:pt idx="3">
                    <c:v>Security</c:v>
                  </c:pt>
                  <c:pt idx="4">
                    <c:v>Performance</c:v>
                  </c:pt>
                  <c:pt idx="5">
                    <c:v>Contact lifecycle</c:v>
                  </c:pt>
                  <c:pt idx="6">
                    <c:v>Routing</c:v>
                  </c:pt>
                  <c:pt idx="7">
                    <c:v>Integration</c:v>
                  </c:pt>
                  <c:pt idx="8">
                    <c:v>Availability</c:v>
                  </c:pt>
                  <c:pt idx="9">
                    <c:v>Recording / QM</c:v>
                  </c:pt>
                  <c:pt idx="10">
                    <c:v>UI</c:v>
                  </c:pt>
                  <c:pt idx="11">
                    <c:v>Other function</c:v>
                  </c:pt>
                  <c:pt idx="12">
                    <c:v>Report / data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39</c:v>
                </c:pt>
                <c:pt idx="4">
                  <c:v>50</c:v>
                </c:pt>
                <c:pt idx="5">
                  <c:v>0</c:v>
                </c:pt>
                <c:pt idx="6">
                  <c:v>0</c:v>
                </c:pt>
                <c:pt idx="7">
                  <c:v>87</c:v>
                </c:pt>
                <c:pt idx="8">
                  <c:v>101</c:v>
                </c:pt>
                <c:pt idx="9">
                  <c:v>0</c:v>
                </c:pt>
                <c:pt idx="10">
                  <c:v>208</c:v>
                </c:pt>
                <c:pt idx="11">
                  <c:v>354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DDE3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5A7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Version 2 replaces the 22 October deck. It corrects the headline numbers and replaces the gate proposal with a quality model and small experiments.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 Jan-Sep (full quarters). Major-incident investigation tickets, logged as bugs since March 2026, are removed (they are not product defects).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Jira bugs with a Salesforce case. 2021-2024 counts had almost no MI investigation tickets. ServiceNow P1 incidents fell in 2026, which is not yet explained.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270 such tickets in 48 projects. They were 44% of the added bugs in H1 2026. Full list of corrections: docs/06-reassessment/why-numbers-changed.md.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1,565 valid bugs, 13 types, 93-95% label precision on a sample. About 15% of all reports are expectation or documentation gaps closed as 'works as designed' - not in this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 teams with at least 10 valid bugs in 2025-2026. No maintained team-to-service-to-code map exists; Jira Team Name is the best key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Low-Medium confidence: few AI-caused bugs so far. Re-test with a 90-day window in 2027-Q1. No company page sets size or review rules for AI-written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dimension has a metric, evidence source, baseline, limits and owner in docs/07-quality-model/quality-model-v0.md. No fixed targets yet: each team is compared with its own 2025 baseline.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items make outcomes comparable; the 2026 headline error came from mixed intake. Risk triggers come from data: routing 73% P1/P2, follow-up fixes rise with size only in hotspot code, 1 in 4 known causes is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Protocols: docs/07-quality-model/experiment-protocols-v0.md (D-038). Candidates and matched controls come from data (agg_exp_readiness). A practice spreads only when it beats its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 per line: docs/05-summary/action-plan-v1.md section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how our current gate methodology and quality automation fit: they stay as possible means, applied where the evidence shows 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Success by April 2027: every valid bug records type, detected-by and cause; each team sees its 8 dimensions monthly; one correctness type is detected before customers; X1-X5 have results with confidence intervals.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has been changed in company systems. All data, scripts and decisions are in the research repository.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Title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Subtitle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Title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AI Quality Discovery  |  Data as of 2026-10-25  |  Sources: Jira, Confluence, GitHub, ServiceNow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Product Quality 2026: What the Data Shows and a Quality Model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77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Management update v3  |  QA Architecture  |  25 October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Bugs got more severe; customers still find them first</a:t>
            </a:r>
            <a:endParaRPr lang="en-US" sz="3000" dirty="0"/>
          </a:p>
        </p:txBody>
      </p:sp>
      <p:sp>
        <p:nvSpPr>
          <p:cNvPr id="3" name="stat-0"/>
          <p:cNvSpPr/>
          <p:nvPr/>
        </p:nvSpPr>
        <p:spPr>
          <a:xfrm>
            <a:off x="54864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+49%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P1/P2 customer-found bugs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Jan-Sep 2026 vs Jan-Sep 2025</a:t>
            </a:r>
            <a:endParaRPr lang="en-US" sz="1300" dirty="0"/>
          </a:p>
        </p:txBody>
      </p:sp>
      <p:sp>
        <p:nvSpPr>
          <p:cNvPr id="7" name="stat-1"/>
          <p:cNvSpPr/>
          <p:nvPr/>
        </p:nvSpPr>
        <p:spPr>
          <a:xfrm>
            <a:off x="429768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+13%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customer-found bugs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same window; MI investigations removed</a:t>
            </a:r>
            <a:endParaRPr lang="en-US" sz="1300" dirty="0"/>
          </a:p>
        </p:txBody>
      </p:sp>
      <p:sp>
        <p:nvSpPr>
          <p:cNvPr id="11" name="stat-2"/>
          <p:cNvSpPr/>
          <p:nvPr/>
        </p:nvSpPr>
        <p:spPr>
          <a:xfrm>
            <a:off x="8046720" y="1463040"/>
            <a:ext cx="3474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6459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96%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6974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of P1 incidents reach us via customer cases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2918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ServiceNow, since 2025</a:t>
            </a:r>
            <a:endParaRPr lang="en-US" sz="1300" dirty="0"/>
          </a:p>
        </p:txBody>
      </p:sp>
      <p:sp>
        <p:nvSpPr>
          <p:cNvPr id="15" name="num-1"/>
          <p:cNvSpPr/>
          <p:nvPr/>
        </p:nvSpPr>
        <p:spPr>
          <a:xfrm>
            <a:off x="548640" y="416052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160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Severity, not volume: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P1/P2 rose sharply; total volume rose a little and fell in Q3.</a:t>
            </a:r>
            <a:endParaRPr lang="en-US" sz="1600" dirty="0"/>
          </a:p>
        </p:txBody>
      </p:sp>
      <p:sp>
        <p:nvSpPr>
          <p:cNvPr id="18" name="num-2"/>
          <p:cNvSpPr/>
          <p:nvPr/>
        </p:nvSpPr>
        <p:spPr>
          <a:xfrm>
            <a:off x="548640" y="4846320"/>
            <a:ext cx="411480" cy="41148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846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Not AI per change: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matched comparisons show no higher bug rate for AI-made changes.</a:t>
            </a:r>
            <a:endParaRPr lang="en-US" sz="1600" dirty="0"/>
          </a:p>
        </p:txBody>
      </p:sp>
      <p:sp>
        <p:nvSpPr>
          <p:cNvPr id="21" name="num-3"/>
          <p:cNvSpPr/>
          <p:nvPr/>
        </p:nvSpPr>
        <p:spPr>
          <a:xfrm>
            <a:off x="548640" y="553212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5321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143000" y="55321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Proposal: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a quality model with a common baseline, risk-based rules, team adaptation, and 5 experiments.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Severity broke the trend in 2026; volume did not</a:t>
            </a:r>
            <a:endParaRPr lang="en-US" sz="3000" dirty="0"/>
          </a:p>
        </p:txBody>
      </p:sp>
      <p:graphicFrame>
        <p:nvGraphicFramePr>
          <p:cNvPr id="3" name="chart-cfb-trend" descr=""/>
          <p:cNvGraphicFramePr/>
          <p:nvPr/>
        </p:nvGraphicFramePr>
        <p:xfrm>
          <a:off x="548640" y="1325880"/>
          <a:ext cx="795528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rend-notes"/>
          <p:cNvSpPr/>
          <p:nvPr/>
        </p:nvSpPr>
        <p:spPr>
          <a:xfrm>
            <a:off x="8778240" y="1325880"/>
            <a:ext cx="2834640" cy="48920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00684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258 vs 167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900684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in Q3 2026 vs Q3 2025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006840" y="2971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346 vs 383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3703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all bugs in Q3 2026 vs Q3 2025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438912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006840" y="51206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in Q3 2026 (about 50% in 2023-24)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Correction: our first headline counted MI investigations as bugs</a:t>
            </a:r>
            <a:endParaRPr lang="en-US" sz="3000" dirty="0"/>
          </a:p>
        </p:txBody>
      </p:sp>
      <p:graphicFrame>
        <p:nvGraphicFramePr>
          <p:cNvPr id="3" name="chart-mi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orr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Earlier (H1)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1874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+51% bugs, +72% P1/P2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Corrected (Jan-Sep)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017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+13% bugs, +49% P1/P2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3840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Why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4160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From March 2026, every major-incident investigation is logged as a bug with a customer case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138160" y="4983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Lesson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530352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We now audit what enters a count before we trend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Almost half of valid bugs are business-correctness failures</a:t>
            </a:r>
            <a:endParaRPr lang="en-US" sz="3000" dirty="0"/>
          </a:p>
        </p:txBody>
      </p:sp>
      <p:graphicFrame>
        <p:nvGraphicFramePr>
          <p:cNvPr id="3" name="chart-types" descr=""/>
          <p:cNvGraphicFramePr/>
          <p:nvPr/>
        </p:nvGraphicFramePr>
        <p:xfrm>
          <a:off x="548640" y="1325880"/>
          <a:ext cx="6949440" cy="4892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ypes-card"/>
          <p:cNvSpPr/>
          <p:nvPr/>
        </p:nvSpPr>
        <p:spPr>
          <a:xfrm>
            <a:off x="7863840" y="1325880"/>
            <a:ext cx="3749040" cy="4892040"/>
          </a:xfrm>
          <a:prstGeom prst="roundRect">
            <a:avLst>
              <a:gd name="adj" fmla="val 195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138160" y="15544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2286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of routing bugs are P1/P2 (highest)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384048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agent-state bug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52% -&gt; 70%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138160" y="53949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 of correctness bugs, 2025 -&gt;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Teams differ too much for one workflow</a:t>
            </a:r>
            <a:endParaRPr lang="en-US" sz="3000" dirty="0"/>
          </a:p>
        </p:txBody>
      </p:sp>
      <p:sp>
        <p:nvSpPr>
          <p:cNvPr id="3" name="rng-0"/>
          <p:cNvSpPr/>
          <p:nvPr/>
        </p:nvSpPr>
        <p:spPr>
          <a:xfrm>
            <a:off x="548640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1.1 - 10.4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incidents per bug</a:t>
            </a:r>
            <a:endParaRPr lang="en-US" sz="1400" dirty="0"/>
          </a:p>
        </p:txBody>
      </p:sp>
      <p:sp>
        <p:nvSpPr>
          <p:cNvPr id="6" name="rng-1"/>
          <p:cNvSpPr/>
          <p:nvPr/>
        </p:nvSpPr>
        <p:spPr>
          <a:xfrm>
            <a:off x="3355848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84448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10 - 93%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584448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P1/P2 share</a:t>
            </a:r>
            <a:endParaRPr lang="en-US" sz="1400" dirty="0"/>
          </a:p>
        </p:txBody>
      </p:sp>
      <p:sp>
        <p:nvSpPr>
          <p:cNvPr id="9" name="rng-2"/>
          <p:cNvSpPr/>
          <p:nvPr/>
        </p:nvSpPr>
        <p:spPr>
          <a:xfrm>
            <a:off x="6163056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91656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6 - 79%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6391656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invalid bug share</a:t>
            </a:r>
            <a:endParaRPr lang="en-US" sz="1400" dirty="0"/>
          </a:p>
        </p:txBody>
      </p:sp>
      <p:sp>
        <p:nvSpPr>
          <p:cNvPr id="12" name="rng-3"/>
          <p:cNvSpPr/>
          <p:nvPr/>
        </p:nvSpPr>
        <p:spPr>
          <a:xfrm>
            <a:off x="8970264" y="1417320"/>
            <a:ext cx="26060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98864" y="16002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3 - 31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377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days to fix (median)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Range across 40 teams. The VP explains only 17-46% of this variation; most of it is inside a VP.</a:t>
            </a:r>
            <a:endParaRPr lang="en-US" sz="1400" dirty="0"/>
          </a:p>
        </p:txBody>
      </p:sp>
      <p:sp>
        <p:nvSpPr>
          <p:cNvPr id="16" name="arch-0"/>
          <p:cNvSpPr/>
          <p:nvPr/>
        </p:nvSpPr>
        <p:spPr>
          <a:xfrm>
            <a:off x="548640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impact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9 teams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Severity and incidents above median</a:t>
            </a:r>
            <a:endParaRPr lang="en-US" sz="1400" dirty="0"/>
          </a:p>
        </p:txBody>
      </p:sp>
      <p:sp>
        <p:nvSpPr>
          <p:cNvPr id="20" name="arch-1"/>
          <p:cNvSpPr/>
          <p:nvPr/>
        </p:nvSpPr>
        <p:spPr>
          <a:xfrm>
            <a:off x="3355848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84448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Fast growing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3584448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teams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Valid bugs +50% or more; part is re-homing</a:t>
            </a:r>
            <a:endParaRPr lang="en-US" sz="1400" dirty="0"/>
          </a:p>
        </p:txBody>
      </p:sp>
      <p:sp>
        <p:nvSpPr>
          <p:cNvPr id="24" name="arch-2"/>
          <p:cNvSpPr/>
          <p:nvPr/>
        </p:nvSpPr>
        <p:spPr>
          <a:xfrm>
            <a:off x="6163056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1656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High noise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391656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5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391656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Half or more of bugs invalid</a:t>
            </a:r>
            <a:endParaRPr lang="en-US" sz="1400" dirty="0"/>
          </a:p>
        </p:txBody>
      </p:sp>
      <p:sp>
        <p:nvSpPr>
          <p:cNvPr id="28" name="arch-3"/>
          <p:cNvSpPr/>
          <p:nvPr/>
        </p:nvSpPr>
        <p:spPr>
          <a:xfrm>
            <a:off x="8970264" y="3931920"/>
            <a:ext cx="2606040" cy="2148840"/>
          </a:xfrm>
          <a:prstGeom prst="roundRect">
            <a:avLst>
              <a:gd name="adj" fmla="val 34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98864" y="4114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Stable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18 teams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9377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extra signal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AI: what is fact, what is correlation, what is hypothesis</a:t>
            </a:r>
            <a:endParaRPr lang="en-US" sz="3000" dirty="0"/>
          </a:p>
        </p:txBody>
      </p:sp>
      <p:sp>
        <p:nvSpPr>
          <p:cNvPr id="3" name="ai-k-0"/>
          <p:cNvSpPr/>
          <p:nvPr/>
        </p:nvSpPr>
        <p:spPr>
          <a:xfrm>
            <a:off x="548640" y="137160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13716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use grew from about 0% to 31-47% of work in 2026</a:t>
            </a:r>
            <a:endParaRPr lang="en-US" sz="1600" dirty="0"/>
          </a:p>
        </p:txBody>
      </p:sp>
      <p:sp>
        <p:nvSpPr>
          <p:cNvPr id="6" name="ai-k-1"/>
          <p:cNvSpPr/>
          <p:nvPr/>
        </p:nvSpPr>
        <p:spPr>
          <a:xfrm>
            <a:off x="548640" y="2157984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FACT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54680" y="2157984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labels on bugs mark AI-made fixes, not AI-caused bugs</a:t>
            </a:r>
            <a:endParaRPr lang="en-US" sz="1600" dirty="0"/>
          </a:p>
        </p:txBody>
      </p:sp>
      <p:sp>
        <p:nvSpPr>
          <p:cNvPr id="9" name="ai-k-2"/>
          <p:cNvSpPr/>
          <p:nvPr/>
        </p:nvSpPr>
        <p:spPr>
          <a:xfrm>
            <a:off x="548640" y="2944368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4436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94436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changes cause more bugs per change (matched ratio 0.78-0.84)</a:t>
            </a:r>
            <a:endParaRPr lang="en-US" sz="1600" dirty="0"/>
          </a:p>
        </p:txBody>
      </p:sp>
      <p:sp>
        <p:nvSpPr>
          <p:cNvPr id="12" name="ai-k-3"/>
          <p:cNvSpPr/>
          <p:nvPr/>
        </p:nvSpPr>
        <p:spPr>
          <a:xfrm>
            <a:off x="548640" y="3730752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73075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 SUPPORTED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54680" y="3730752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adoption caused the 2026 rise (adopting teams stayed flat)</a:t>
            </a:r>
            <a:endParaRPr lang="en-US" sz="1600" dirty="0"/>
          </a:p>
        </p:txBody>
      </p:sp>
      <p:sp>
        <p:nvSpPr>
          <p:cNvPr id="15" name="ai-k-4"/>
          <p:cNvSpPr/>
          <p:nvPr/>
        </p:nvSpPr>
        <p:spPr>
          <a:xfrm>
            <a:off x="548640" y="4517136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51713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WEAK SIGNAL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154680" y="4517136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Same author: AI PRs need more follow-up fixes (1.45, CI touches 1)</a:t>
            </a:r>
            <a:endParaRPr lang="en-US" sz="1600" dirty="0"/>
          </a:p>
        </p:txBody>
      </p:sp>
      <p:sp>
        <p:nvSpPr>
          <p:cNvPr id="18" name="ai-k-5"/>
          <p:cNvSpPr/>
          <p:nvPr/>
        </p:nvSpPr>
        <p:spPr>
          <a:xfrm>
            <a:off x="548640" y="5303520"/>
            <a:ext cx="23774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5303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MECHANISM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53035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AI PRs are 3.7x larger and 47% of PRs into hotspot code; review does not grow with size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Quality = 8 outcome dimensions, each tied to a decision</a:t>
            </a:r>
            <a:endParaRPr lang="en-US" sz="3000" dirty="0"/>
          </a:p>
        </p:txBody>
      </p:sp>
      <p:graphicFrame>
        <p:nvGraphicFramePr>
          <p:cNvPr id="9" name="dim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566160"/>
                <a:gridCol w="4572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it supports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2025 -&gt; 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correctness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to invest first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295 -&gt; 325 valid; P1/P2 52% -&gt; 70%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Reliability, release risk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Counts only (access)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 work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SLO data yet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 investment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96% of P1 via customer cases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Recovery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capacity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 71% &lt; 4 h; fix median 10 days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 depth for fixes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in 4 causes is a fix; emergency x2.9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Non-recurrence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fixes hold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1-2% return; 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Expectation fit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Requirements and docs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~15% of reports are real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Code quality, coverage and tool scores are inputs that may explain these outcomes. They are not quality.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Common where it adds value, different where risk differs</a:t>
            </a:r>
            <a:endParaRPr lang="en-US" sz="3000" dirty="0"/>
          </a:p>
        </p:txBody>
      </p:sp>
      <p:sp>
        <p:nvSpPr>
          <p:cNvPr id="3" name="layer-h-0"/>
          <p:cNvSpPr/>
          <p:nvPr/>
        </p:nvSpPr>
        <p:spPr>
          <a:xfrm>
            <a:off x="54864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Common baseline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All teams</a:t>
            </a:r>
            <a:endParaRPr lang="en-US" sz="1300" dirty="0"/>
          </a:p>
        </p:txBody>
      </p:sp>
      <p:sp>
        <p:nvSpPr>
          <p:cNvPr id="6" name="layer-b-0"/>
          <p:cNvSpPr/>
          <p:nvPr/>
        </p:nvSpPr>
        <p:spPr>
          <a:xfrm>
            <a:off x="54864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intake rule: defect vs MI vs expectation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Each bug: type, detected-by, cause, customers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RCA for P1/P2 (already uniform)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Team -&gt; service -&gt; code map</a:t>
            </a:r>
            <a:endParaRPr lang="en-US" sz="1500" dirty="0"/>
          </a:p>
        </p:txBody>
      </p:sp>
      <p:sp>
        <p:nvSpPr>
          <p:cNvPr id="8" name="layer-h-1"/>
          <p:cNvSpPr/>
          <p:nvPr/>
        </p:nvSpPr>
        <p:spPr>
          <a:xfrm>
            <a:off x="429768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2628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Risk-based layer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Any team, by risk</a:t>
            </a:r>
            <a:endParaRPr lang="en-US" sz="1300" dirty="0"/>
          </a:p>
        </p:txBody>
      </p:sp>
      <p:sp>
        <p:nvSpPr>
          <p:cNvPr id="11" name="layer-b-1"/>
          <p:cNvSpPr/>
          <p:nvPr/>
        </p:nvSpPr>
        <p:spPr>
          <a:xfrm>
            <a:off x="429768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High-severity correctness failures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Hotspot code: review scales with size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Bug fixes: regression evidence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Emergency changes: follow-up review</a:t>
            </a:r>
            <a:endParaRPr lang="en-US" sz="1500" dirty="0"/>
          </a:p>
        </p:txBody>
      </p:sp>
      <p:sp>
        <p:nvSpPr>
          <p:cNvPr id="13" name="layer-h-2"/>
          <p:cNvSpPr/>
          <p:nvPr/>
        </p:nvSpPr>
        <p:spPr>
          <a:xfrm>
            <a:off x="8046720" y="1417320"/>
            <a:ext cx="3474720" cy="868680"/>
          </a:xfrm>
          <a:prstGeom prst="roundRect">
            <a:avLst>
              <a:gd name="adj" fmla="val 842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Team adaptation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18745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By archetype</a:t>
            </a:r>
            <a:endParaRPr lang="en-US" sz="1300" dirty="0"/>
          </a:p>
        </p:txBody>
      </p:sp>
      <p:sp>
        <p:nvSpPr>
          <p:cNvPr id="16" name="layer-b-2"/>
          <p:cNvSpPr/>
          <p:nvPr/>
        </p:nvSpPr>
        <p:spPr>
          <a:xfrm>
            <a:off x="8046720" y="2423160"/>
            <a:ext cx="34747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0" y="2606040"/>
            <a:ext cx="310896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impact: detection and recovery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Fast growing: check re-homing, then triage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High noise: expectation gaps first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Stable: baseline only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Teams choose how to meet a rule. The model fixes what must be true and how it is measured. Rules apply to all authors, human or AI.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Five experiments, redesigned so the data can show a result</a:t>
            </a:r>
            <a:endParaRPr lang="en-US" sz="3000" dirty="0"/>
          </a:p>
        </p:txBody>
      </p:sp>
      <p:graphicFrame>
        <p:nvGraphicFramePr>
          <p:cNvPr id="11" name="exp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384048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measure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X1 Intake fields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teams (one per type) vs 3 controls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Bugs with cause and detected-by (15% today)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X2 Detection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high-impact team, shadow 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Alerts before a customer case; lead 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weeks + 1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X3 Review by size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teams with hotspot PRs, 2-step start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hotspot PR (about 70%)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X4 Fix safety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pool, bug-fix PRs only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 fixes per bug-fix PR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quarters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X5 Expectation gaps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high-noise teams + VMS/QM, WFM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'works as designed' closures with an action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quarter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power-note"/>
          <p:cNvSpPr/>
          <p:nvPr/>
        </p:nvSpPr>
        <p:spPr>
          <a:xfrm>
            <a:off x="548640" y="4892040"/>
            <a:ext cx="1106424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7240" y="498348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443D"/>
                </a:solidFill>
              </a:rPr>
              <a:t>Power check: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bugs are rare per team, so 1 team for 1 quarter cannot show a 30% change for X2-X5 (4 to 33 quarters needed). The new design pools teams and measures events with more volume. Bug counts stay as the slower confirming signal. Each experiment is pre-registered with success and stop rules.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What to keep, change, stop and start</a:t>
            </a:r>
            <a:endParaRPr lang="en-US" sz="3000" dirty="0"/>
          </a:p>
        </p:txBody>
      </p:sp>
      <p:sp>
        <p:nvSpPr>
          <p:cNvPr id="3" name="kcss-h-0"/>
          <p:cNvSpPr/>
          <p:nvPr/>
        </p:nvSpPr>
        <p:spPr>
          <a:xfrm>
            <a:off x="548640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Keep</a:t>
            </a:r>
            <a:endParaRPr lang="en-US" sz="2000" dirty="0"/>
          </a:p>
        </p:txBody>
      </p:sp>
      <p:sp>
        <p:nvSpPr>
          <p:cNvPr id="5" name="kcss-b-0"/>
          <p:cNvSpPr/>
          <p:nvPr/>
        </p:nvSpPr>
        <p:spPr>
          <a:xfrm>
            <a:off x="548640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RCA for P1/P2 bugs (80-100% today)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Feature toggles (no monolith rollback)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development, same rules as all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Xray test management</a:t>
            </a:r>
            <a:endParaRPr lang="en-US" sz="1500" dirty="0"/>
          </a:p>
        </p:txBody>
      </p:sp>
      <p:sp>
        <p:nvSpPr>
          <p:cNvPr id="7" name="kcss-h-1"/>
          <p:cNvSpPr/>
          <p:nvPr/>
        </p:nvSpPr>
        <p:spPr>
          <a:xfrm>
            <a:off x="3355848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55848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Change</a:t>
            </a:r>
            <a:endParaRPr lang="en-US" sz="2000" dirty="0"/>
          </a:p>
        </p:txBody>
      </p:sp>
      <p:sp>
        <p:nvSpPr>
          <p:cNvPr id="9" name="kcss-b-1"/>
          <p:cNvSpPr/>
          <p:nvPr/>
        </p:nvSpPr>
        <p:spPr>
          <a:xfrm>
            <a:off x="3355848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93008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Intake: defect vs MI vs expectation gap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Go/No-Go: from "TBD" to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E2E: trusted signal before blocking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Review depth scales with size in hotspots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QSU: valid, severity-weighted, per team</a:t>
            </a:r>
            <a:endParaRPr lang="en-US" sz="1500" dirty="0"/>
          </a:p>
        </p:txBody>
      </p:sp>
      <p:sp>
        <p:nvSpPr>
          <p:cNvPr id="11" name="kcss-h-2"/>
          <p:cNvSpPr/>
          <p:nvPr/>
        </p:nvSpPr>
        <p:spPr>
          <a:xfrm>
            <a:off x="6163056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63056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Stop</a:t>
            </a:r>
            <a:endParaRPr lang="en-US" sz="2000" dirty="0"/>
          </a:p>
        </p:txBody>
      </p:sp>
      <p:sp>
        <p:nvSpPr>
          <p:cNvPr id="13" name="kcss-b-2"/>
          <p:cNvSpPr/>
          <p:nvPr/>
        </p:nvSpPr>
        <p:spPr>
          <a:xfrm>
            <a:off x="6163056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00216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Raw bug count as the quality number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One gate set for all teams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Unused Jira quality fields (9 of 15)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"Mandatory" with no control behind it</a:t>
            </a:r>
            <a:endParaRPr lang="en-US" sz="1500" dirty="0"/>
          </a:p>
        </p:txBody>
      </p:sp>
      <p:sp>
        <p:nvSpPr>
          <p:cNvPr id="15" name="kcss-h-3"/>
          <p:cNvSpPr/>
          <p:nvPr/>
        </p:nvSpPr>
        <p:spPr>
          <a:xfrm>
            <a:off x="8970264" y="1371600"/>
            <a:ext cx="2606040" cy="640080"/>
          </a:xfrm>
          <a:prstGeom prst="roundRect">
            <a:avLst>
              <a:gd name="adj" fmla="val 1142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70264" y="1371600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Start</a:t>
            </a:r>
            <a:endParaRPr lang="en-US" sz="2000" dirty="0"/>
          </a:p>
        </p:txBody>
      </p:sp>
      <p:sp>
        <p:nvSpPr>
          <p:cNvPr id="17" name="kcss-b-3"/>
          <p:cNvSpPr/>
          <p:nvPr/>
        </p:nvSpPr>
        <p:spPr>
          <a:xfrm>
            <a:off x="8970264" y="2148840"/>
            <a:ext cx="2606040" cy="310896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07424" y="2286000"/>
            <a:ext cx="23774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8-dimension quality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Team -&gt; service -&gt; code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Monitors for routing, lifecycle, data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Expectation-gap triage; owner backups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Experiments X1-X5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Our gates and quality automation: means, not goals</a:t>
            </a:r>
            <a:endParaRPr lang="en-US" sz="3000" dirty="0"/>
          </a:p>
        </p:txBody>
      </p:sp>
      <p:graphicFrame>
        <p:nvGraphicFramePr>
          <p:cNvPr id="13" name="mean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949440"/>
                <a:gridCol w="1554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 (G1-G6)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blocking checks where risk is proven: intake fields, hotspot size and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Go/No-Go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Data-based: 8 dimensions, open P1-P3, E2E health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E2E automation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trust first; then block on suites that hold their pass level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Now -&gt; Q1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Sonar, dependency scan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as build checks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RIA agents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Later, aimed at fixes and hotspots (RIA misses = 7%)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testing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Later, only if X3/X4 show weak tests (weak tests = 3%)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harness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only for checks that experiments prove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Blocking is justified only where data proves the risk. Everything else waits for the experiment results.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When: measure first, test in a few teams, then spread</a:t>
            </a:r>
            <a:endParaRPr lang="en-US" sz="3000" dirty="0"/>
          </a:p>
        </p:txBody>
      </p:sp>
      <p:sp>
        <p:nvSpPr>
          <p:cNvPr id="3" name="phase-0"/>
          <p:cNvSpPr/>
          <p:nvPr/>
        </p:nvSpPr>
        <p:spPr>
          <a:xfrm>
            <a:off x="548640" y="1371600"/>
            <a:ext cx="2697480" cy="777240"/>
          </a:xfrm>
          <a:prstGeom prst="chevron">
            <a:avLst/>
          </a:prstGeom>
          <a:solidFill>
            <a:srgbClr val="C8443D"/>
          </a:solidFill>
          <a:ln w="12700">
            <a:solidFill>
              <a:srgbClr val="C844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Now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Nov 2026</a:t>
            </a:r>
            <a:endParaRPr lang="en-US" sz="1300" dirty="0"/>
          </a:p>
        </p:txBody>
      </p:sp>
      <p:sp>
        <p:nvSpPr>
          <p:cNvPr id="6" name="phase-b-0"/>
          <p:cNvSpPr/>
          <p:nvPr/>
        </p:nvSpPr>
        <p:spPr>
          <a:xfrm>
            <a:off x="548640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Decisions: sponsor, X1-X5, ServiceNow access, team map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Start X1 intake and X2 detection (shadow)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QSU: valid, severity-weighted, per team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Triage 13 failing routing E2E scenarios</a:t>
            </a:r>
            <a:endParaRPr lang="en-US" sz="1500" dirty="0"/>
          </a:p>
        </p:txBody>
      </p:sp>
      <p:sp>
        <p:nvSpPr>
          <p:cNvPr id="8" name="phase-1"/>
          <p:cNvSpPr/>
          <p:nvPr/>
        </p:nvSpPr>
        <p:spPr>
          <a:xfrm>
            <a:off x="3355848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30168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Q1 2027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355848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Jan-Mar</a:t>
            </a:r>
            <a:endParaRPr lang="en-US" sz="1300" dirty="0"/>
          </a:p>
        </p:txBody>
      </p:sp>
      <p:sp>
        <p:nvSpPr>
          <p:cNvPr id="11" name="phase-b-1"/>
          <p:cNvSpPr/>
          <p:nvPr/>
        </p:nvSpPr>
        <p:spPr>
          <a:xfrm>
            <a:off x="3355848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3008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X3/X4 step 1 (hotspot and bug-fix PRs)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X5 with product owners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Monthly quality review per team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Re-test the AI effect (90 days)</a:t>
            </a:r>
            <a:endParaRPr lang="en-US" sz="1500" dirty="0"/>
          </a:p>
        </p:txBody>
      </p:sp>
      <p:sp>
        <p:nvSpPr>
          <p:cNvPr id="13" name="phase-2"/>
          <p:cNvSpPr/>
          <p:nvPr/>
        </p:nvSpPr>
        <p:spPr>
          <a:xfrm>
            <a:off x="6163056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Q2 2027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63056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April review</a:t>
            </a:r>
            <a:endParaRPr lang="en-US" sz="1300" dirty="0"/>
          </a:p>
        </p:txBody>
      </p:sp>
      <p:sp>
        <p:nvSpPr>
          <p:cNvPr id="16" name="phase-b-2"/>
          <p:cNvSpPr/>
          <p:nvPr/>
        </p:nvSpPr>
        <p:spPr>
          <a:xfrm>
            <a:off x="6163056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0216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X3/X4 step 2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Results vs controls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Model v1 with justified targets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Decide which checks block</a:t>
            </a:r>
            <a:endParaRPr lang="en-US" sz="1500" dirty="0"/>
          </a:p>
        </p:txBody>
      </p:sp>
      <p:sp>
        <p:nvSpPr>
          <p:cNvPr id="18" name="phase-3"/>
          <p:cNvSpPr/>
          <p:nvPr/>
        </p:nvSpPr>
        <p:spPr>
          <a:xfrm>
            <a:off x="8970264" y="1371600"/>
            <a:ext cx="2697480" cy="777240"/>
          </a:xfrm>
          <a:prstGeom prst="chevron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44584" y="13716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H2 2027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970264" y="224028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Jul-Dec</a:t>
            </a:r>
            <a:endParaRPr lang="en-US" sz="1300" dirty="0"/>
          </a:p>
        </p:txBody>
      </p:sp>
      <p:sp>
        <p:nvSpPr>
          <p:cNvPr id="21" name="phase-b-3"/>
          <p:cNvSpPr/>
          <p:nvPr/>
        </p:nvSpPr>
        <p:spPr>
          <a:xfrm>
            <a:off x="8970264" y="2651760"/>
            <a:ext cx="2606040" cy="283464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07424" y="2788920"/>
            <a:ext cx="23774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Spread proven practices to all domains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Decide RIA agents, mutation, harness from evidence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What we need from management</a:t>
            </a:r>
            <a:endParaRPr lang="en-US" sz="3000" dirty="0"/>
          </a:p>
        </p:txBody>
      </p:sp>
      <p:sp>
        <p:nvSpPr>
          <p:cNvPr id="3" name="num-1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4630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experiments X1-X5 in volunteer teams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0195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1 quarter; no org-wide change yet</a:t>
            </a:r>
            <a:endParaRPr lang="en-US" sz="1400" dirty="0"/>
          </a:p>
        </p:txBody>
      </p:sp>
      <p:sp>
        <p:nvSpPr>
          <p:cNvPr id="7" name="num-2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14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Grant ServiceNow record-level read for research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95351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Needed for who was affected and change-to-incident links</a:t>
            </a:r>
            <a:endParaRPr lang="en-US" sz="1400" dirty="0"/>
          </a:p>
        </p:txBody>
      </p:sp>
      <p:sp>
        <p:nvSpPr>
          <p:cNvPr id="11" name="num-3"/>
          <p:cNvSpPr/>
          <p:nvPr/>
        </p:nvSpPr>
        <p:spPr>
          <a:xfrm>
            <a:off x="548640" y="36118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5661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an owner for the team-to-service-to-code map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00507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No such map exists today</a:t>
            </a:r>
            <a:endParaRPr lang="en-US" sz="1400" dirty="0"/>
          </a:p>
        </p:txBody>
      </p:sp>
      <p:sp>
        <p:nvSpPr>
          <p:cNvPr id="15" name="num-4"/>
          <p:cNvSpPr/>
          <p:nvPr/>
        </p:nvSpPr>
        <p:spPr>
          <a:xfrm>
            <a:off x="548640" y="46634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663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617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Name a sponsor and a monthly quality 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Each team vs its own baseline, 8 dimensions</a:t>
            </a:r>
            <a:endParaRPr lang="en-US" sz="1400" dirty="0"/>
          </a:p>
        </p:txBody>
      </p:sp>
      <p:sp>
        <p:nvSpPr>
          <p:cNvPr id="19" name="timeline"/>
          <p:cNvSpPr/>
          <p:nvPr/>
        </p:nvSpPr>
        <p:spPr>
          <a:xfrm>
            <a:off x="7680960" y="1463040"/>
            <a:ext cx="3931920" cy="4069080"/>
          </a:xfrm>
          <a:prstGeom prst="roundRect">
            <a:avLst>
              <a:gd name="adj" fmla="val 1860"/>
            </a:avLst>
          </a:prstGeom>
          <a:solidFill>
            <a:srgbClr val="4A5A72"/>
          </a:solidFill>
          <a:ln w="12700">
            <a:solidFill>
              <a:srgbClr val="4A5A7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Timeline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2240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Now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098280" y="22402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Start X1-X5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0175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2027-Q1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098280" y="301752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Re-test the AI effect (90 days)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37947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2027-04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098280" y="379476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Review experiments vs controls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55280" y="4572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Then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098280" y="45720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Spread what worked; model v1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Quality Signal">
  <a:themeElements>
    <a:clrScheme name="Quality Signal">
      <a:dk1>
        <a:srgbClr val="1B2A41"/>
      </a:dk1>
      <a:lt1>
        <a:srgbClr val="FFFFFF"/>
      </a:lt1>
      <a:dk2>
        <a:srgbClr val="4A5A72"/>
      </a:dk2>
      <a:lt2>
        <a:srgbClr val="EEF2F6"/>
      </a:lt2>
      <a:accent1>
        <a:srgbClr val="C8443D"/>
      </a:accent1>
      <a:accent2>
        <a:srgbClr val="2A8C82"/>
      </a:accent2>
      <a:accent3>
        <a:srgbClr val="E0A030"/>
      </a:accent3>
      <a:accent4>
        <a:srgbClr val="8796AB"/>
      </a:accent4>
      <a:accent5>
        <a:srgbClr val="1B2A41"/>
      </a:accent5>
      <a:accent6>
        <a:srgbClr val="C9D3DF"/>
      </a:accent6>
      <a:hlink>
        <a:srgbClr val="2A8C82"/>
      </a:hlink>
      <a:folHlink>
        <a:srgbClr val="4A5A72"/>
      </a:folHlink>
    </a:clrScheme>
    <a:fontScheme name="Quality Sign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Quality 2026 - Research Summary</dc:title>
  <dc:subject>PptxGenJS Presentation</dc:subject>
  <dc:creator>QA Architecture</dc:creator>
  <cp:lastModifiedBy>QA Architecture</cp:lastModifiedBy>
  <cp:revision>1</cp:revision>
  <dcterms:created xsi:type="dcterms:W3CDTF">2026-10-25T08:05:00Z</dcterms:created>
  <dcterms:modified xsi:type="dcterms:W3CDTF">2026-10-25T08:05:00Z</dcterms:modified>
</cp:coreProperties>
</file>