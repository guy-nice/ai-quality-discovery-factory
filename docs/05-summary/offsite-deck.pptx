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ffsite" id="{c6038c55-56fa-8eb0-82fe-d80fe897b60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Follow-up fix within 90 days, hotspot code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Follow-up fix rate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796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4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Small PR</c:v>
                  </c:pt>
                  <c:pt idx="1">
                    <c:v>Large PR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</c:v>
                </c:pt>
                <c:pt idx="1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of this talk: agree on a gate model that works for hundreds of pods that each choose their own way of working. Evidence: 40 teams studied, Jan 2025 -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P1/P2 and all-bug counts: Jan-Sep 2026 vs 2025, MI investigation tickets removed. 96% = P1 incidents that entered through customer cases (intake channel is a proxy for first detection).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= top code directories by customer-bug-fix density. Follow-up fix = a later fix PR on the same files within 90 days. AI matched risk ratio 0.78-0.84, not significant. AI PRs in hotspots: 5% to 47%.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current-gates check 2026-10-25 (Confluence + GitHub, read-only). Nothing in the agent set blocks a change; agents run locally by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idea: leadership fixes WHAT must be true and HOW it is measured. Pods choose HOW to get there. Gates check evidence, not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common because they make outcomes measurable and comparable, not because one way of working is better. RCA for P1/P2 is already 80-100% in every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Blocking is justified only where a risk is proven. Everything else waits for experiment results (X1-X5). Mutation: visible in Sonar first (D-040).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we provide (test cases, automation, RIA, mutation) are suggested means. A pod that proves the same outcome another way passes the same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studied, 4 archetypes, re-assessed quarterly. Teams choose how to meet a requirement; the model fixes what must be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tickets excluded. Bold green line = value today (2025 to 2026). D2, D4, D5 per team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Limits: team-to-service map missing (U-26/U-27 open), no SME validation yet, ServiceNow P1 fall unexplained (C-08). Blocking gates are tested in X3/X4 before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explicit yes/no on each of the four. Discussion prompt: what is the one gate your pod would never accept,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Quality gates for pods and AI: one contract, free means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What 2025-2026 taught us, and the gate model we propose  |  QA &amp; RM  |  Offsite kickoff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happened in 2025-2026</a:t>
            </a:r>
            <a:endParaRPr lang="en-US" sz="3000" dirty="0"/>
          </a:p>
        </p:txBody>
      </p:sp>
      <p:sp>
        <p:nvSpPr>
          <p:cNvPr id="4" name="stat-0"/>
          <p:cNvSpPr/>
          <p:nvPr/>
        </p:nvSpPr>
        <p:spPr>
          <a:xfrm>
            <a:off x="5486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P1/P2 customer-found bugs</a:t>
            </a:r>
            <a:endParaRPr lang="en-US" sz="1500" dirty="0"/>
          </a:p>
        </p:txBody>
      </p:sp>
      <p:sp>
        <p:nvSpPr>
          <p:cNvPr id="7" name="stat-1"/>
          <p:cNvSpPr/>
          <p:nvPr/>
        </p:nvSpPr>
        <p:spPr>
          <a:xfrm>
            <a:off x="3355848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84448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584448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customer-found bugs</a:t>
            </a:r>
            <a:endParaRPr lang="en-US" sz="1500" dirty="0"/>
          </a:p>
        </p:txBody>
      </p:sp>
      <p:sp>
        <p:nvSpPr>
          <p:cNvPr id="10" name="stat-2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P1 incidents enter through customer cases</a:t>
            </a:r>
            <a:endParaRPr lang="en-US" sz="1500" dirty="0"/>
          </a:p>
        </p:txBody>
      </p:sp>
      <p:sp>
        <p:nvSpPr>
          <p:cNvPr id="13" name="stat-3"/>
          <p:cNvSpPr/>
          <p:nvPr/>
        </p:nvSpPr>
        <p:spPr>
          <a:xfrm>
            <a:off x="8970264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98864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valid bugs are business-correctness failures</a:t>
            </a:r>
            <a:endParaRPr lang="en-US" sz="1500" dirty="0"/>
          </a:p>
        </p:txBody>
      </p:sp>
      <p:sp>
        <p:nvSpPr>
          <p:cNvPr id="16" name="so-what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So what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Quality fell in severity, not in volume.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Customers find our worst problems before we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Risk sits in large changes in hotspot code, not in AI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ns-0"/>
          <p:cNvSpPr/>
          <p:nvPr/>
        </p:nvSpPr>
        <p:spPr>
          <a:xfrm>
            <a:off x="6675120" y="141732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03720" y="1600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is not riskier per change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Matched risk ratio 0.78-0.84 vs non-AI changes</a:t>
            </a:r>
            <a:endParaRPr lang="en-US" sz="1400" dirty="0"/>
          </a:p>
        </p:txBody>
      </p:sp>
      <p:sp>
        <p:nvSpPr>
          <p:cNvPr id="8" name="ins-1"/>
          <p:cNvSpPr/>
          <p:nvPr/>
        </p:nvSpPr>
        <p:spPr>
          <a:xfrm>
            <a:off x="6675120" y="297180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adds volume and size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3657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PRs in hotspot code: 5% to 47%</a:t>
            </a:r>
            <a:endParaRPr lang="en-US" sz="1400" dirty="0"/>
          </a:p>
        </p:txBody>
      </p:sp>
      <p:sp>
        <p:nvSpPr>
          <p:cNvPr id="11" name="ins-2"/>
          <p:cNvSpPr/>
          <p:nvPr/>
        </p:nvSpPr>
        <p:spPr>
          <a:xfrm>
            <a:off x="6675120" y="452628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Teams differ strongly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5212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bug: 1.1 to 10.4 between teams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today's gates do not protect us</a:t>
            </a:r>
            <a:endParaRPr lang="en-US" sz="3000" dirty="0"/>
          </a:p>
        </p:txBody>
      </p:sp>
      <p:graphicFrame>
        <p:nvGraphicFramePr>
          <p:cNvPr id="5" name="toda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see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no gate blocks a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Aikido and PR / Jira-ID checks block; Sonar required in 1 of 5 pilot repos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 is a form, not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26.4 domain pages show TBD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E2E signal is not trusted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pipeline passed 1.2% of runs; failures ignored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fields are unused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of ~15 Jira quality fields filled &lt; 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gate set for every team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differ 10x in incidents per bug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Policy on paper does not change outcomes.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model: fixed outcomes, risk-based floor, free means</a:t>
            </a:r>
            <a:endParaRPr lang="en-US" sz="3000" dirty="0"/>
          </a:p>
        </p:txBody>
      </p:sp>
      <p:sp>
        <p:nvSpPr>
          <p:cNvPr id="4" name="layer-0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1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for every pod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00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Intake rule, bug fields, 8 metrics, owner map</a:t>
            </a:r>
            <a:endParaRPr lang="en-US" sz="1700" dirty="0"/>
          </a:p>
        </p:txBody>
      </p:sp>
      <p:sp>
        <p:nvSpPr>
          <p:cNvPr id="10" name="layer-1"/>
          <p:cNvSpPr/>
          <p:nvPr/>
        </p:nvSpPr>
        <p:spPr>
          <a:xfrm>
            <a:off x="548640" y="30175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-2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floor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Blocks only where data proves risk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004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Hotspot PR rules, Sonar, toggles, escape-to-test, data-based Go/No-Go</a:t>
            </a:r>
            <a:endParaRPr lang="en-US" sz="1700" dirty="0"/>
          </a:p>
        </p:txBody>
      </p:sp>
      <p:sp>
        <p:nvSpPr>
          <p:cNvPr id="16" name="layer-2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um-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800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means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pod chooses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48006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Structure, process, agents, test tools, 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1: the contract every pod keeps</a:t>
            </a:r>
            <a:endParaRPr lang="en-US" sz="3000" dirty="0"/>
          </a:p>
        </p:txBody>
      </p:sp>
      <p:sp>
        <p:nvSpPr>
          <p:cNvPr id="4" name="ct-0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Intake rule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Defect, MI investigation and expectation gap are separate types</a:t>
            </a:r>
            <a:endParaRPr lang="en-US" sz="1500" dirty="0"/>
          </a:p>
        </p:txBody>
      </p:sp>
      <p:sp>
        <p:nvSpPr>
          <p:cNvPr id="7" name="ct-1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Bug fields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Failure type, detected-by, causing change, affected customers</a:t>
            </a:r>
            <a:endParaRPr lang="en-US" sz="1500" dirty="0"/>
          </a:p>
        </p:txBody>
      </p:sp>
      <p:sp>
        <p:nvSpPr>
          <p:cNvPr id="10" name="ct-2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RCA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valid P1/P2 bug gets a root cause (already 80-100%)</a:t>
            </a:r>
            <a:endParaRPr lang="en-US" sz="1500" dirty="0"/>
          </a:p>
        </p:txBody>
      </p:sp>
      <p:sp>
        <p:nvSpPr>
          <p:cNvPr id="13" name="ct-3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Owner map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 -&gt; service -&gt; repo, with owners and backups</a:t>
            </a:r>
            <a:endParaRPr lang="en-US" sz="1500" dirty="0"/>
          </a:p>
        </p:txBody>
      </p:sp>
      <p:sp>
        <p:nvSpPr>
          <p:cNvPr id="16" name="ct-4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262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Monthly view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metrics per pod against its own baseline</a:t>
            </a:r>
            <a:endParaRPr lang="en-US" sz="1500" dirty="0"/>
          </a:p>
        </p:txBody>
      </p:sp>
      <p:sp>
        <p:nvSpPr>
          <p:cNvPr id="19" name="ct-5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Same bar for all authors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Human or AI: the same checks apply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2: the few checks that block, along the SDLC</a:t>
            </a:r>
            <a:endParaRPr lang="en-US" sz="3000" dirty="0"/>
          </a:p>
        </p:txBody>
      </p:sp>
      <p:sp>
        <p:nvSpPr>
          <p:cNvPr id="4" name="st-0"/>
          <p:cNvSpPr/>
          <p:nvPr/>
        </p:nvSpPr>
        <p:spPr>
          <a:xfrm>
            <a:off x="54864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Intake</a:t>
            </a:r>
            <a:endParaRPr lang="en-US" sz="1300" dirty="0"/>
          </a:p>
        </p:txBody>
      </p:sp>
      <p:sp>
        <p:nvSpPr>
          <p:cNvPr id="6" name="stc-0"/>
          <p:cNvSpPr/>
          <p:nvPr/>
        </p:nvSpPr>
        <p:spPr>
          <a:xfrm>
            <a:off x="54864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 type and fields required to close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Jira required fields</a:t>
            </a:r>
            <a:endParaRPr lang="en-US" sz="1300" dirty="0"/>
          </a:p>
        </p:txBody>
      </p:sp>
      <p:sp>
        <p:nvSpPr>
          <p:cNvPr id="9" name="st-1"/>
          <p:cNvSpPr/>
          <p:nvPr/>
        </p:nvSpPr>
        <p:spPr>
          <a:xfrm>
            <a:off x="2414016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88336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tc-1"/>
          <p:cNvSpPr/>
          <p:nvPr/>
        </p:nvSpPr>
        <p:spPr>
          <a:xfrm>
            <a:off x="2414016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23744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 link, state and toggle section for risky Epics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23744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 sample</a:t>
            </a:r>
            <a:endParaRPr lang="en-US" sz="1300" dirty="0"/>
          </a:p>
        </p:txBody>
      </p:sp>
      <p:sp>
        <p:nvSpPr>
          <p:cNvPr id="14" name="st-2"/>
          <p:cNvSpPr/>
          <p:nvPr/>
        </p:nvSpPr>
        <p:spPr>
          <a:xfrm>
            <a:off x="4279392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16" name="stc-2"/>
          <p:cNvSpPr/>
          <p:nvPr/>
        </p:nvSpPr>
        <p:spPr>
          <a:xfrm>
            <a:off x="4279392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Hotspot: size limit, code-owner review, tests. Sonar required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19" name="st-3"/>
          <p:cNvSpPr/>
          <p:nvPr/>
        </p:nvSpPr>
        <p:spPr>
          <a:xfrm>
            <a:off x="6144768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19088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 health</a:t>
            </a:r>
            <a:endParaRPr lang="en-US" sz="1300" dirty="0"/>
          </a:p>
        </p:txBody>
      </p:sp>
      <p:sp>
        <p:nvSpPr>
          <p:cNvPr id="21" name="stc-3"/>
          <p:cNvSpPr/>
          <p:nvPr/>
        </p:nvSpPr>
        <p:spPr>
          <a:xfrm>
            <a:off x="6144768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54496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suite blocks only while it holds its pass level 14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54496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 when healthy</a:t>
            </a:r>
            <a:endParaRPr lang="en-US" sz="1300" dirty="0"/>
          </a:p>
        </p:txBody>
      </p:sp>
      <p:sp>
        <p:nvSpPr>
          <p:cNvPr id="24" name="st-4"/>
          <p:cNvSpPr/>
          <p:nvPr/>
        </p:nvSpPr>
        <p:spPr>
          <a:xfrm>
            <a:off x="8010144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84464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6" name="stc-4"/>
          <p:cNvSpPr/>
          <p:nvPr/>
        </p:nvSpPr>
        <p:spPr>
          <a:xfrm>
            <a:off x="8010144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19872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Toggle registered; data-based Go/No-Go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29" name="st-5"/>
          <p:cNvSpPr/>
          <p:nvPr/>
        </p:nvSpPr>
        <p:spPr>
          <a:xfrm>
            <a:off x="987552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4984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Post-release</a:t>
            </a:r>
            <a:endParaRPr lang="en-US" sz="1300" dirty="0"/>
          </a:p>
        </p:txBody>
      </p:sp>
      <p:sp>
        <p:nvSpPr>
          <p:cNvPr id="31" name="stc-5"/>
          <p:cNvSpPr/>
          <p:nvPr/>
        </p:nvSpPr>
        <p:spPr>
          <a:xfrm>
            <a:off x="987552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98524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Monitors for routing, lifecycle and report-data invariants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98524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Alerts before customers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Red = blocks. Every check asks for evidence. How a pod produces it is the pod's choice.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and pods: one rule set, because AI is not the risk</a:t>
            </a:r>
            <a:endParaRPr lang="en-US" sz="3000" dirty="0"/>
          </a:p>
        </p:txBody>
      </p:sp>
      <p:sp>
        <p:nvSpPr>
          <p:cNvPr id="4" name="ai-left"/>
          <p:cNvSpPr/>
          <p:nvPr/>
        </p:nvSpPr>
        <p:spPr>
          <a:xfrm>
            <a:off x="54864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We 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AI-assisted development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Apply the same gates to every author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Scale review by change size and code area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Offer agents as a paved road, not a duty</a:t>
            </a:r>
            <a:endParaRPr lang="en-US" sz="1800" dirty="0"/>
          </a:p>
        </p:txBody>
      </p:sp>
      <p:sp>
        <p:nvSpPr>
          <p:cNvPr id="7" name="ai-right"/>
          <p:cNvSpPr/>
          <p:nvPr/>
        </p:nvSpPr>
        <p:spPr>
          <a:xfrm>
            <a:off x="621792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 do not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Add an AI-only gate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Require a specific tool or agent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Block on a score before we prove it works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 raw bug counts as the quality number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Pods differ: the floor is common, the depth follows risk</a:t>
            </a:r>
            <a:endParaRPr lang="en-US" sz="3000" dirty="0"/>
          </a:p>
        </p:txBody>
      </p:sp>
      <p:graphicFrame>
        <p:nvGraphicFramePr>
          <p:cNvPr id="10" name="po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4206240"/>
                <a:gridCol w="35661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High impact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depth on detection and recovery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per bug and P1/P2 share above median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Fast growing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re-homing first, then triage and capacity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growth is renames and splits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High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and expectation gaps before defects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50%+ of reports invalid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Stable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and common floor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signal that more control helps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Each pod is compared with its own 2025 baseline and with similar pods, never with one shared target.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monthly</a:t>
            </a:r>
            <a:endParaRPr lang="en-US" sz="3000" dirty="0"/>
          </a:p>
        </p:txBody>
      </p:sp>
      <p:sp>
        <p:nvSpPr>
          <p:cNvPr id="4" name="dim-0"/>
          <p:cNvSpPr/>
          <p:nvPr/>
        </p:nvSpPr>
        <p:spPr>
          <a:xfrm>
            <a:off x="548640" y="13716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508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D1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Business correctness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 does the wrong thing: data, routing, lifecycle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P1/P2 share 52% to 70%</a:t>
            </a:r>
            <a:endParaRPr lang="en-US" sz="1300" dirty="0"/>
          </a:p>
        </p:txBody>
      </p:sp>
      <p:sp>
        <p:nvSpPr>
          <p:cNvPr id="8" name="dim-1"/>
          <p:cNvSpPr/>
          <p:nvPr/>
        </p:nvSpPr>
        <p:spPr>
          <a:xfrm>
            <a:off x="3355848" y="13716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38728" y="1508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Availability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P1 incidents per quarter and customers hit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538728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About 150 to 76 (cause open)</a:t>
            </a:r>
            <a:endParaRPr lang="en-US" sz="1300" dirty="0"/>
          </a:p>
        </p:txBody>
      </p:sp>
      <p:sp>
        <p:nvSpPr>
          <p:cNvPr id="12" name="dim-2"/>
          <p:cNvSpPr/>
          <p:nvPr/>
        </p:nvSpPr>
        <p:spPr>
          <a:xfrm>
            <a:off x="6163056" y="13716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508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D3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Performance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Slow-system bugs and SLO breaches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No SLO data yet</a:t>
            </a:r>
            <a:endParaRPr lang="en-US" sz="1300" dirty="0"/>
          </a:p>
        </p:txBody>
      </p:sp>
      <p:sp>
        <p:nvSpPr>
          <p:cNvPr id="16" name="dim-3"/>
          <p:cNvSpPr/>
          <p:nvPr/>
        </p:nvSpPr>
        <p:spPr>
          <a:xfrm>
            <a:off x="8970264" y="13716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53144" y="1508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D4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Detection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153144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Share of impact we find before customers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96% of P1 via customers</a:t>
            </a:r>
            <a:endParaRPr lang="en-US" sz="1300" dirty="0"/>
          </a:p>
        </p:txBody>
      </p:sp>
      <p:sp>
        <p:nvSpPr>
          <p:cNvPr id="20" name="dim-4"/>
          <p:cNvSpPr/>
          <p:nvPr/>
        </p:nvSpPr>
        <p:spPr>
          <a:xfrm>
            <a:off x="548640" y="361188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D5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Recovery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251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Time to restore and time to fix a bug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5074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Fix median 10 days</a:t>
            </a:r>
            <a:endParaRPr lang="en-US" sz="1300" dirty="0"/>
          </a:p>
        </p:txBody>
      </p:sp>
      <p:sp>
        <p:nvSpPr>
          <p:cNvPr id="24" name="dim-5"/>
          <p:cNvSpPr/>
          <p:nvPr/>
        </p:nvSpPr>
        <p:spPr>
          <a:xfrm>
            <a:off x="3355848" y="361188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38728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D6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Change safety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538728" y="4251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Bugs caused by fixes, emergency or recent changes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538728" y="5074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Fix-caused 24% to 27%</a:t>
            </a:r>
            <a:endParaRPr lang="en-US" sz="1300" dirty="0"/>
          </a:p>
        </p:txBody>
      </p:sp>
      <p:sp>
        <p:nvSpPr>
          <p:cNvPr id="28" name="dim-6"/>
          <p:cNvSpPr/>
          <p:nvPr/>
        </p:nvSpPr>
        <p:spPr>
          <a:xfrm>
            <a:off x="6163056" y="361188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5936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D7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Non-recurrence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345936" y="4251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fixes hold: repeats and reopens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45936" y="5074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Recurrence 3.9% to 1.5%</a:t>
            </a:r>
            <a:endParaRPr lang="en-US" sz="1300" dirty="0"/>
          </a:p>
        </p:txBody>
      </p:sp>
      <p:sp>
        <p:nvSpPr>
          <p:cNvPr id="32" name="dim-7"/>
          <p:cNvSpPr/>
          <p:nvPr/>
        </p:nvSpPr>
        <p:spPr>
          <a:xfrm>
            <a:off x="8970264" y="361188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53144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D8 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Expectation fit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153144" y="4251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Reports closed as designed that are real gaps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53144" y="5074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42% of those are real gaps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Rule: a pod outside its own range for 2 months gets an investigation, not a punishment.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Prove before we block: timeline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Now (Nov 2026)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Intake rule and bug fields (X1)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Sonar required everywhere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Mutation score visible, not blocking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Go/No-Go with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Correctness monitor in shadow (X2)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Q1 2027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Hotspot PR rules (X3)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Bug-fix review (X4)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Expectation-gap triage (X5)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Monthly pod review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April 2027 and after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Results vs control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what blocks, per tier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Spread proven practices to all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on RIA, mutation, harness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 limits: owner map missing, no SME validation yet, ServiceNow data pending.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ask from you today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63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Agree the model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contract, a small blocking floor, free means</a:t>
            </a:r>
            <a:endParaRPr lang="en-US" sz="1700" dirty="0"/>
          </a:p>
        </p:txBody>
      </p:sp>
      <p:sp>
        <p:nvSpPr>
          <p:cNvPr id="7" name="num-2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Name an owner per pod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pod-to-service-to-code map and bug fields</a:t>
            </a:r>
            <a:endParaRPr lang="en-US" sz="1700" dirty="0"/>
          </a:p>
        </p:txBody>
      </p:sp>
      <p:sp>
        <p:nvSpPr>
          <p:cNvPr id="11" name="num-3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840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Volunteer pods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experiments X1-X5, with control pods</a:t>
            </a:r>
            <a:endParaRPr lang="en-US" sz="1700" dirty="0"/>
          </a:p>
        </p:txBody>
      </p:sp>
      <p:sp>
        <p:nvSpPr>
          <p:cNvPr id="15" name="num-4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Decide the Dec 15 mutation gate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5029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Visible in Sonar first; block per scope after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pods and AI - Offsite kickoff</dc:title>
  <dc:subject>PptxGenJS Presentation</dc:subject>
  <dc:creator>QA Architecture</dc:creator>
  <cp:lastModifiedBy>QA Architecture</cp:lastModifiedBy>
  <cp:revision>1</cp:revision>
  <dcterms:created xsi:type="dcterms:W3CDTF">2026-10-26T07:58:16Z</dcterms:created>
  <dcterms:modified xsi:type="dcterms:W3CDTF">2026-10-26T07:58:16Z</dcterms:modified>
</cp:coreProperties>
</file>