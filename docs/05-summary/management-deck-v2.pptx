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tuation" id="{270271be-c0df-9148-a025-f1e1c0165d9b}">
          <p14:sldIdLst>
            <p14:sldId id="256"/>
            <p14:sldId id="257"/>
            <p14:sldId id="258"/>
            <p14:sldId id="259"/>
          </p14:sldIdLst>
        </p14:section>
        <p14:section name="Findings" id="{42c5e5ce-3ff1-1998-650f-e48f8148f5d1}">
          <p14:sldIdLst>
            <p14:sldId id="260"/>
            <p14:sldId id="261"/>
            <p14:sldId id="262"/>
          </p14:sldIdLst>
        </p14:section>
        <p14:section name="Quality model" id="{742f1c03-a8d3-14e5-8621-e500bec19601}">
          <p14:sldIdLst>
            <p14:sldId id="263"/>
            <p14:sldId id="264"/>
            <p14:sldId id="265"/>
          </p14:sldIdLst>
        </p14:section>
        <p14:section name="Decisions" id="{32b77ddc-d132-f8ea-29f6-12f636e439c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Customer-found bugs per quarter (MI investigations removed)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P1/P2</c:v>
                </c:pt>
              </c:strCache>
            </c:strRef>
          </c:tx>
          <c:spPr>
            <a:solidFill>
              <a:srgbClr val="C84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21Q1</c:v>
                  </c:pt>
                  <c:pt idx="1">
                    <c:v>21Q2</c:v>
                  </c:pt>
                  <c:pt idx="2">
                    <c:v>21Q3</c:v>
                  </c:pt>
                  <c:pt idx="3">
                    <c:v>21Q4</c:v>
                  </c:pt>
                  <c:pt idx="4">
                    <c:v>22Q1</c:v>
                  </c:pt>
                  <c:pt idx="5">
                    <c:v>22Q2</c:v>
                  </c:pt>
                  <c:pt idx="6">
                    <c:v>22Q3</c:v>
                  </c:pt>
                  <c:pt idx="7">
                    <c:v>22Q4</c:v>
                  </c:pt>
                  <c:pt idx="8">
                    <c:v>23Q1</c:v>
                  </c:pt>
                  <c:pt idx="9">
                    <c:v>23Q2</c:v>
                  </c:pt>
                  <c:pt idx="10">
                    <c:v>23Q3</c:v>
                  </c:pt>
                  <c:pt idx="11">
                    <c:v>23Q4</c:v>
                  </c:pt>
                  <c:pt idx="12">
                    <c:v>24Q1</c:v>
                  </c:pt>
                  <c:pt idx="13">
                    <c:v>24Q2</c:v>
                  </c:pt>
                  <c:pt idx="14">
                    <c:v>24Q3</c:v>
                  </c:pt>
                  <c:pt idx="15">
                    <c:v>24Q4</c:v>
                  </c:pt>
                  <c:pt idx="16">
                    <c:v>25Q1</c:v>
                  </c:pt>
                  <c:pt idx="17">
                    <c:v>25Q2</c:v>
                  </c:pt>
                  <c:pt idx="18">
                    <c:v>25Q3</c:v>
                  </c:pt>
                  <c:pt idx="19">
                    <c:v>25Q4</c:v>
                  </c:pt>
                  <c:pt idx="20">
                    <c:v>26Q1</c:v>
                  </c:pt>
                  <c:pt idx="21">
                    <c:v>26Q2</c:v>
                  </c:pt>
                  <c:pt idx="22">
                    <c:v>26Q3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112</c:v>
                </c:pt>
                <c:pt idx="1">
                  <c:v>138</c:v>
                </c:pt>
                <c:pt idx="2">
                  <c:v>157</c:v>
                </c:pt>
                <c:pt idx="3">
                  <c:v>164</c:v>
                </c:pt>
                <c:pt idx="4">
                  <c:v>153</c:v>
                </c:pt>
                <c:pt idx="5">
                  <c:v>151</c:v>
                </c:pt>
                <c:pt idx="6">
                  <c:v>185</c:v>
                </c:pt>
                <c:pt idx="7">
                  <c:v>172</c:v>
                </c:pt>
                <c:pt idx="8">
                  <c:v>187</c:v>
                </c:pt>
                <c:pt idx="9">
                  <c:v>171</c:v>
                </c:pt>
                <c:pt idx="10">
                  <c:v>179</c:v>
                </c:pt>
                <c:pt idx="11">
                  <c:v>155</c:v>
                </c:pt>
                <c:pt idx="12">
                  <c:v>186</c:v>
                </c:pt>
                <c:pt idx="13">
                  <c:v>178</c:v>
                </c:pt>
                <c:pt idx="14">
                  <c:v>199</c:v>
                </c:pt>
                <c:pt idx="15">
                  <c:v>185</c:v>
                </c:pt>
                <c:pt idx="16">
                  <c:v>173</c:v>
                </c:pt>
                <c:pt idx="17">
                  <c:v>120</c:v>
                </c:pt>
                <c:pt idx="18">
                  <c:v>167</c:v>
                </c:pt>
                <c:pt idx="19">
                  <c:v>242</c:v>
                </c:pt>
                <c:pt idx="20">
                  <c:v>170</c:v>
                </c:pt>
                <c:pt idx="21">
                  <c:v>257</c:v>
                </c:pt>
                <c:pt idx="22">
                  <c:v>258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P3/P4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21Q1</c:v>
                  </c:pt>
                  <c:pt idx="1">
                    <c:v>21Q2</c:v>
                  </c:pt>
                  <c:pt idx="2">
                    <c:v>21Q3</c:v>
                  </c:pt>
                  <c:pt idx="3">
                    <c:v>21Q4</c:v>
                  </c:pt>
                  <c:pt idx="4">
                    <c:v>22Q1</c:v>
                  </c:pt>
                  <c:pt idx="5">
                    <c:v>22Q2</c:v>
                  </c:pt>
                  <c:pt idx="6">
                    <c:v>22Q3</c:v>
                  </c:pt>
                  <c:pt idx="7">
                    <c:v>22Q4</c:v>
                  </c:pt>
                  <c:pt idx="8">
                    <c:v>23Q1</c:v>
                  </c:pt>
                  <c:pt idx="9">
                    <c:v>23Q2</c:v>
                  </c:pt>
                  <c:pt idx="10">
                    <c:v>23Q3</c:v>
                  </c:pt>
                  <c:pt idx="11">
                    <c:v>23Q4</c:v>
                  </c:pt>
                  <c:pt idx="12">
                    <c:v>24Q1</c:v>
                  </c:pt>
                  <c:pt idx="13">
                    <c:v>24Q2</c:v>
                  </c:pt>
                  <c:pt idx="14">
                    <c:v>24Q3</c:v>
                  </c:pt>
                  <c:pt idx="15">
                    <c:v>24Q4</c:v>
                  </c:pt>
                  <c:pt idx="16">
                    <c:v>25Q1</c:v>
                  </c:pt>
                  <c:pt idx="17">
                    <c:v>25Q2</c:v>
                  </c:pt>
                  <c:pt idx="18">
                    <c:v>25Q3</c:v>
                  </c:pt>
                  <c:pt idx="19">
                    <c:v>25Q4</c:v>
                  </c:pt>
                  <c:pt idx="20">
                    <c:v>26Q1</c:v>
                  </c:pt>
                  <c:pt idx="21">
                    <c:v>26Q2</c:v>
                  </c:pt>
                  <c:pt idx="22">
                    <c:v>26Q3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178</c:v>
                </c:pt>
                <c:pt idx="1">
                  <c:v>187</c:v>
                </c:pt>
                <c:pt idx="2">
                  <c:v>148</c:v>
                </c:pt>
                <c:pt idx="3">
                  <c:v>160</c:v>
                </c:pt>
                <c:pt idx="4">
                  <c:v>180</c:v>
                </c:pt>
                <c:pt idx="5">
                  <c:v>186</c:v>
                </c:pt>
                <c:pt idx="6">
                  <c:v>248</c:v>
                </c:pt>
                <c:pt idx="7">
                  <c:v>176</c:v>
                </c:pt>
                <c:pt idx="8">
                  <c:v>214</c:v>
                </c:pt>
                <c:pt idx="9">
                  <c:v>163</c:v>
                </c:pt>
                <c:pt idx="10">
                  <c:v>153</c:v>
                </c:pt>
                <c:pt idx="11">
                  <c:v>142</c:v>
                </c:pt>
                <c:pt idx="12">
                  <c:v>150</c:v>
                </c:pt>
                <c:pt idx="13">
                  <c:v>182</c:v>
                </c:pt>
                <c:pt idx="14">
                  <c:v>155</c:v>
                </c:pt>
                <c:pt idx="15">
                  <c:v>178</c:v>
                </c:pt>
                <c:pt idx="16">
                  <c:v>124</c:v>
                </c:pt>
                <c:pt idx="17">
                  <c:v>154</c:v>
                </c:pt>
                <c:pt idx="18">
                  <c:v>216</c:v>
                </c:pt>
                <c:pt idx="19">
                  <c:v>183</c:v>
                </c:pt>
                <c:pt idx="20">
                  <c:v>156</c:v>
                </c:pt>
                <c:pt idx="21">
                  <c:v>153</c:v>
                </c:pt>
                <c:pt idx="2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MI investigation tickets logged as customer bugs,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tickets</c:v>
                </c:pt>
              </c:strCache>
            </c:strRef>
          </c:tx>
          <c:spPr>
            <a:solidFill>
              <a:srgbClr val="8796AB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Sheet1!$A$2:$A$23</c:f>
              <c:multiLvlStrCache>
                <c:ptCount val="22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  <c:pt idx="20">
                    <c:v>26-09</c:v>
                  </c:pt>
                  <c:pt idx="21">
                    <c:v>26-10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6</c:v>
                </c:pt>
                <c:pt idx="15">
                  <c:v>49</c:v>
                </c:pt>
                <c:pt idx="16">
                  <c:v>34</c:v>
                </c:pt>
                <c:pt idx="17">
                  <c:v>39</c:v>
                </c:pt>
                <c:pt idx="18">
                  <c:v>48</c:v>
                </c:pt>
                <c:pt idx="19">
                  <c:v>36</c:v>
                </c:pt>
                <c:pt idx="20">
                  <c:v>38</c:v>
                </c:pt>
                <c:pt idx="21">
                  <c:v>17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Valid customer-found bugs by failure type, 2025-2026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Correctness</c:v>
                </c:pt>
              </c:strCache>
            </c:strRef>
          </c:tx>
          <c:spPr>
            <a:solidFill>
              <a:srgbClr val="C84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Billing</c:v>
                  </c:pt>
                  <c:pt idx="1">
                    <c:v>Agent state</c:v>
                  </c:pt>
                  <c:pt idx="2">
                    <c:v>WFM</c:v>
                  </c:pt>
                  <c:pt idx="3">
                    <c:v>Security</c:v>
                  </c:pt>
                  <c:pt idx="4">
                    <c:v>Performance</c:v>
                  </c:pt>
                  <c:pt idx="5">
                    <c:v>Contact lifecycle</c:v>
                  </c:pt>
                  <c:pt idx="6">
                    <c:v>Routing</c:v>
                  </c:pt>
                  <c:pt idx="7">
                    <c:v>Integration</c:v>
                  </c:pt>
                  <c:pt idx="8">
                    <c:v>Availability</c:v>
                  </c:pt>
                  <c:pt idx="9">
                    <c:v>Recording / QM</c:v>
                  </c:pt>
                  <c:pt idx="10">
                    <c:v>UI</c:v>
                  </c:pt>
                  <c:pt idx="11">
                    <c:v>Other function</c:v>
                  </c:pt>
                  <c:pt idx="12">
                    <c:v>Report / data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18</c:v>
                </c:pt>
                <c:pt idx="2">
                  <c:v>33</c:v>
                </c:pt>
                <c:pt idx="3">
                  <c:v>0</c:v>
                </c:pt>
                <c:pt idx="4">
                  <c:v>0</c:v>
                </c:pt>
                <c:pt idx="5">
                  <c:v>75</c:v>
                </c:pt>
                <c:pt idx="6">
                  <c:v>86</c:v>
                </c:pt>
                <c:pt idx="7">
                  <c:v>0</c:v>
                </c:pt>
                <c:pt idx="8">
                  <c:v>0</c:v>
                </c:pt>
                <c:pt idx="9">
                  <c:v>111</c:v>
                </c:pt>
                <c:pt idx="10">
                  <c:v>0</c:v>
                </c:pt>
                <c:pt idx="11">
                  <c:v>0</c:v>
                </c:pt>
                <c:pt idx="12">
                  <c:v>399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Billing</c:v>
                  </c:pt>
                  <c:pt idx="1">
                    <c:v>Agent state</c:v>
                  </c:pt>
                  <c:pt idx="2">
                    <c:v>WFM</c:v>
                  </c:pt>
                  <c:pt idx="3">
                    <c:v>Security</c:v>
                  </c:pt>
                  <c:pt idx="4">
                    <c:v>Performance</c:v>
                  </c:pt>
                  <c:pt idx="5">
                    <c:v>Contact lifecycle</c:v>
                  </c:pt>
                  <c:pt idx="6">
                    <c:v>Routing</c:v>
                  </c:pt>
                  <c:pt idx="7">
                    <c:v>Integration</c:v>
                  </c:pt>
                  <c:pt idx="8">
                    <c:v>Availability</c:v>
                  </c:pt>
                  <c:pt idx="9">
                    <c:v>Recording / QM</c:v>
                  </c:pt>
                  <c:pt idx="10">
                    <c:v>UI</c:v>
                  </c:pt>
                  <c:pt idx="11">
                    <c:v>Other function</c:v>
                  </c:pt>
                  <c:pt idx="12">
                    <c:v>Report / data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39</c:v>
                </c:pt>
                <c:pt idx="4">
                  <c:v>50</c:v>
                </c:pt>
                <c:pt idx="5">
                  <c:v>0</c:v>
                </c:pt>
                <c:pt idx="6">
                  <c:v>0</c:v>
                </c:pt>
                <c:pt idx="7">
                  <c:v>87</c:v>
                </c:pt>
                <c:pt idx="8">
                  <c:v>101</c:v>
                </c:pt>
                <c:pt idx="9">
                  <c:v>0</c:v>
                </c:pt>
                <c:pt idx="10">
                  <c:v>208</c:v>
                </c:pt>
                <c:pt idx="11">
                  <c:v>354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2 replaces the 22 October deck. It corrects the headline numbers and replaces the gate proposal with a quality model and small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 Jan-Sep (full quarters). Major-incident investigation tickets, logged as bugs since March 2026, are removed (they are not product defects).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Jira bugs with a Salesforce case. 2021-2024 counts had almost no MI investigation tickets. ServiceNow P1 incidents fell in 2026, which is not yet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270 such tickets in 48 projects. They were 44% of the added bugs in H1 2026. Full list of corrections: docs/06-reassessment/why-numbers-changed.md.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1,565 valid bugs, 13 types, 93-95% label precision on a sample. About 15% of all reports are expectation or documentation gaps closed as 'works as designed' - not in this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teams with at least 10 valid bugs in 2025-2026. No maintained team-to-service-to-code map exists; Jira Team Name is the best key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Low-Medium confidence: few AI-caused bugs so far. Re-test with a 90-day window in 2027-Q1. No company page sets size or review rules for AI-written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dimension has a metric, evidence source, baseline, limits and owner in docs/07-quality-model/quality-model-v0.md. No fixed targets yet: each team is compared with its own 2025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items make outcomes comparable; the 2026 headline error came from mixed intake. Risk triggers come from data: routing 73% P1/P2, follow-up fixes rise with size only in hotspot code, 1 in 4 known causes is a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= a difference vs control whose confidence interval excludes no effect, or a clear pre/post change with the control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has been changed in company systems. All data, scripts and decisions are in the research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 Quality Discovery  |  Data as of 2026-10-25  |  Sources: Jira, Confluence, GitHub, ServiceNow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 Quality Discovery  |  Data as of 2026-10-25  |  Sources: Jira, Confluence, GitHub, ServiceNow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Product Quality 2026: What the Data Shows and a Quality Model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Management update v2  |  QA Architecture  |  25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Bugs got more severe; customers still find them first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P1/P2 customer-found bugs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Jan-Sep 2026 vs Jan-Sep 2025</a:t>
            </a:r>
            <a:endParaRPr lang="en-US" sz="1300" dirty="0"/>
          </a:p>
        </p:txBody>
      </p:sp>
      <p:sp>
        <p:nvSpPr>
          <p:cNvPr id="7" name="stat-1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customer-found bugs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window; MI investigations removed</a:t>
            </a:r>
            <a:endParaRPr lang="en-US" sz="1300" dirty="0"/>
          </a:p>
        </p:txBody>
      </p:sp>
      <p:sp>
        <p:nvSpPr>
          <p:cNvPr id="11" name="stat-2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of P1 incidents reach us via customer cases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ServiceNow, since 2025</a:t>
            </a:r>
            <a:endParaRPr lang="en-US" sz="1300" dirty="0"/>
          </a:p>
        </p:txBody>
      </p:sp>
      <p:sp>
        <p:nvSpPr>
          <p:cNvPr id="15" name="num-1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Severity, not volume: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P1/P2 rose sharply; total volume rose a little and fell in Q3.</a:t>
            </a:r>
            <a:endParaRPr lang="en-US" sz="1600" dirty="0"/>
          </a:p>
        </p:txBody>
      </p:sp>
      <p:sp>
        <p:nvSpPr>
          <p:cNvPr id="18" name="num-2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 AI per change: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matched comparisons show no higher bug rate for AI-made changes.</a:t>
            </a:r>
            <a:endParaRPr lang="en-US" sz="1600" dirty="0"/>
          </a:p>
        </p:txBody>
      </p:sp>
      <p:sp>
        <p:nvSpPr>
          <p:cNvPr id="21" name="num-3"/>
          <p:cNvSpPr/>
          <p:nvPr/>
        </p:nvSpPr>
        <p:spPr>
          <a:xfrm>
            <a:off x="548640" y="55321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Proposal: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 quality model with a common baseline, risk-based rules, team adaptation, and 5 experiments.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Severity broke the trend in 2026; volume did not</a:t>
            </a:r>
            <a:endParaRPr lang="en-US" sz="3000" dirty="0"/>
          </a:p>
        </p:txBody>
      </p:sp>
      <p:graphicFrame>
        <p:nvGraphicFramePr>
          <p:cNvPr id="3" name="chart-cfb-trend" descr=""/>
          <p:cNvGraphicFramePr/>
          <p:nvPr/>
        </p:nvGraphicFramePr>
        <p:xfrm>
          <a:off x="548640" y="1325880"/>
          <a:ext cx="79552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rend-notes"/>
          <p:cNvSpPr/>
          <p:nvPr/>
        </p:nvSpPr>
        <p:spPr>
          <a:xfrm>
            <a:off x="8778240" y="1325880"/>
            <a:ext cx="2834640" cy="48920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0684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 vs 167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in Q3 2026 vs Q3 2025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971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 vs 383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bugs in Q3 2026 vs Q3 2025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4389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5120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 in Q3 2026 (about 50% in 2023-24)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Correction: our first headline counted MI investigations as bugs</a:t>
            </a:r>
            <a:endParaRPr lang="en-US" sz="3000" dirty="0"/>
          </a:p>
        </p:txBody>
      </p:sp>
      <p:graphicFrame>
        <p:nvGraphicFramePr>
          <p:cNvPr id="3" name="chart-mi" descr=""/>
          <p:cNvGraphicFramePr/>
          <p:nvPr/>
        </p:nvGraphicFramePr>
        <p:xfrm>
          <a:off x="54864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rr-card"/>
          <p:cNvSpPr/>
          <p:nvPr/>
        </p:nvSpPr>
        <p:spPr>
          <a:xfrm>
            <a:off x="786384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Earlier (H1)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+51% bugs, +72% P1/P2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Corrected (Jan-Sep)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+13% bugs, +49% P1/P2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March 2026, every major-incident investigation is logged as a bug with a customer case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Lesson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 now audit what enters a count before we trend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Almost half of valid bugs are business-correctness failures</a:t>
            </a:r>
            <a:endParaRPr lang="en-US" sz="3000" dirty="0"/>
          </a:p>
        </p:txBody>
      </p:sp>
      <p:graphicFrame>
        <p:nvGraphicFramePr>
          <p:cNvPr id="3" name="chart-types" descr=""/>
          <p:cNvGraphicFramePr/>
          <p:nvPr/>
        </p:nvGraphicFramePr>
        <p:xfrm>
          <a:off x="54864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ypes-card"/>
          <p:cNvSpPr/>
          <p:nvPr/>
        </p:nvSpPr>
        <p:spPr>
          <a:xfrm>
            <a:off x="786384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routing bugs are P1/P2 (highest)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incidents per agent-state bug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663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 -&gt; 70%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5394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 of correctness bugs, 2025 -&gt;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Teams differ too much for one workflow</a:t>
            </a:r>
            <a:endParaRPr lang="en-US" sz="3000" dirty="0"/>
          </a:p>
        </p:txBody>
      </p:sp>
      <p:sp>
        <p:nvSpPr>
          <p:cNvPr id="3" name="rng-0"/>
          <p:cNvSpPr/>
          <p:nvPr/>
        </p:nvSpPr>
        <p:spPr>
          <a:xfrm>
            <a:off x="5486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1.1 - 10.4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incidents per bug</a:t>
            </a:r>
            <a:endParaRPr lang="en-US" sz="1400" dirty="0"/>
          </a:p>
        </p:txBody>
      </p:sp>
      <p:sp>
        <p:nvSpPr>
          <p:cNvPr id="6" name="rng-1"/>
          <p:cNvSpPr/>
          <p:nvPr/>
        </p:nvSpPr>
        <p:spPr>
          <a:xfrm>
            <a:off x="3355848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10 - 93%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</a:t>
            </a:r>
            <a:endParaRPr lang="en-US" sz="1400" dirty="0"/>
          </a:p>
        </p:txBody>
      </p:sp>
      <p:sp>
        <p:nvSpPr>
          <p:cNvPr id="9" name="rng-2"/>
          <p:cNvSpPr/>
          <p:nvPr/>
        </p:nvSpPr>
        <p:spPr>
          <a:xfrm>
            <a:off x="6163056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6 - 79%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invalid bug share</a:t>
            </a:r>
            <a:endParaRPr lang="en-US" sz="1400" dirty="0"/>
          </a:p>
        </p:txBody>
      </p:sp>
      <p:sp>
        <p:nvSpPr>
          <p:cNvPr id="12" name="rng-3"/>
          <p:cNvSpPr/>
          <p:nvPr/>
        </p:nvSpPr>
        <p:spPr>
          <a:xfrm>
            <a:off x="8970264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8864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3 - 31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to fix (median)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Range across 40 teams. The VP explains only 17-46% of this variation; most of it is inside a VP.</a:t>
            </a:r>
            <a:endParaRPr lang="en-US" sz="1400" dirty="0"/>
          </a:p>
        </p:txBody>
      </p:sp>
      <p:sp>
        <p:nvSpPr>
          <p:cNvPr id="16" name="arch-0"/>
          <p:cNvSpPr/>
          <p:nvPr/>
        </p:nvSpPr>
        <p:spPr>
          <a:xfrm>
            <a:off x="548640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 impact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9 teams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Severity and incidents above median</a:t>
            </a:r>
            <a:endParaRPr lang="en-US" sz="1400" dirty="0"/>
          </a:p>
        </p:txBody>
      </p:sp>
      <p:sp>
        <p:nvSpPr>
          <p:cNvPr id="20" name="arch-1"/>
          <p:cNvSpPr/>
          <p:nvPr/>
        </p:nvSpPr>
        <p:spPr>
          <a:xfrm>
            <a:off x="3355848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8444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Fast growing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584448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8 teams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Valid bugs +50% or more; part is re-homing</a:t>
            </a:r>
            <a:endParaRPr lang="en-US" sz="1400" dirty="0"/>
          </a:p>
        </p:txBody>
      </p:sp>
      <p:sp>
        <p:nvSpPr>
          <p:cNvPr id="24" name="arch-2"/>
          <p:cNvSpPr/>
          <p:nvPr/>
        </p:nvSpPr>
        <p:spPr>
          <a:xfrm>
            <a:off x="6163056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1656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 noise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91656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5 teams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Half or more of bugs invalid</a:t>
            </a:r>
            <a:endParaRPr lang="en-US" sz="1400" dirty="0"/>
          </a:p>
        </p:txBody>
      </p:sp>
      <p:sp>
        <p:nvSpPr>
          <p:cNvPr id="28" name="arch-3"/>
          <p:cNvSpPr/>
          <p:nvPr/>
        </p:nvSpPr>
        <p:spPr>
          <a:xfrm>
            <a:off x="8970264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98864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Stable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18 teams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extra signal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AI: what is fact, what is correlation, what is hypothesis</a:t>
            </a:r>
            <a:endParaRPr lang="en-US" sz="3000" dirty="0"/>
          </a:p>
        </p:txBody>
      </p:sp>
      <p:sp>
        <p:nvSpPr>
          <p:cNvPr id="3" name="ai-k-0"/>
          <p:cNvSpPr/>
          <p:nvPr/>
        </p:nvSpPr>
        <p:spPr>
          <a:xfrm>
            <a:off x="548640" y="137160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use grew from about 0% to 31-47% of work in 2026</a:t>
            </a:r>
            <a:endParaRPr lang="en-US" sz="1600" dirty="0"/>
          </a:p>
        </p:txBody>
      </p:sp>
      <p:sp>
        <p:nvSpPr>
          <p:cNvPr id="6" name="ai-k-1"/>
          <p:cNvSpPr/>
          <p:nvPr/>
        </p:nvSpPr>
        <p:spPr>
          <a:xfrm>
            <a:off x="548640" y="2157984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57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15798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labels on bugs mark AI-made fixes, not AI-caused bugs</a:t>
            </a:r>
            <a:endParaRPr lang="en-US" sz="1600" dirty="0"/>
          </a:p>
        </p:txBody>
      </p:sp>
      <p:sp>
        <p:nvSpPr>
          <p:cNvPr id="9" name="ai-k-2"/>
          <p:cNvSpPr/>
          <p:nvPr/>
        </p:nvSpPr>
        <p:spPr>
          <a:xfrm>
            <a:off x="548640" y="2944368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44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SUPPORTED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944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changes cause more bugs per change (matched ratio 0.78-0.84)</a:t>
            </a:r>
            <a:endParaRPr lang="en-US" sz="1600" dirty="0"/>
          </a:p>
        </p:txBody>
      </p:sp>
      <p:sp>
        <p:nvSpPr>
          <p:cNvPr id="12" name="ai-k-3"/>
          <p:cNvSpPr/>
          <p:nvPr/>
        </p:nvSpPr>
        <p:spPr>
          <a:xfrm>
            <a:off x="548640" y="3730752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SUPPORTED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7307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adoption caused the 2026 rise (adopting teams stayed flat)</a:t>
            </a:r>
            <a:endParaRPr lang="en-US" sz="1600" dirty="0"/>
          </a:p>
        </p:txBody>
      </p:sp>
      <p:sp>
        <p:nvSpPr>
          <p:cNvPr id="15" name="ai-k-4"/>
          <p:cNvSpPr/>
          <p:nvPr/>
        </p:nvSpPr>
        <p:spPr>
          <a:xfrm>
            <a:off x="548640" y="4517136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171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WEAK SIGNAL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45171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author: AI PRs need more follow-up fixes (1.45, CI touches 1)</a:t>
            </a:r>
            <a:endParaRPr lang="en-US" sz="1600" dirty="0"/>
          </a:p>
        </p:txBody>
      </p:sp>
      <p:sp>
        <p:nvSpPr>
          <p:cNvPr id="18" name="ai-k-5"/>
          <p:cNvSpPr/>
          <p:nvPr/>
        </p:nvSpPr>
        <p:spPr>
          <a:xfrm>
            <a:off x="548640" y="53035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303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MECHANISM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5303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PRs are 3.7x larger and 47% of PRs into hotspot code; review does not grow with size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Quality = 8 outcome dimensions, each tied to a decision</a:t>
            </a:r>
            <a:endParaRPr lang="en-US" sz="3000" dirty="0"/>
          </a:p>
        </p:txBody>
      </p:sp>
      <p:graphicFrame>
        <p:nvGraphicFramePr>
          <p:cNvPr id="9" name="dim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supports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2025 -&gt;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correctness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invest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295 -&gt; 325 valid; P1/P2 52% -&gt; 70%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Reliability, release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only (access)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SLO data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investment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of P1 via customer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71% &lt; 4 h; fix median 10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depth for fixes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4 causes is a fix; emergency x2.9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Non-recurrence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fixes 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1-2% return; 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Expectation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and docs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 of reports are real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Code quality, coverage and tool scores are inputs that may explain these outcomes. They are not quality.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where it adds value, different where risk differs</a:t>
            </a:r>
            <a:endParaRPr lang="en-US" sz="3000" dirty="0"/>
          </a:p>
        </p:txBody>
      </p:sp>
      <p:sp>
        <p:nvSpPr>
          <p:cNvPr id="3" name="layer-h-0"/>
          <p:cNvSpPr/>
          <p:nvPr/>
        </p:nvSpPr>
        <p:spPr>
          <a:xfrm>
            <a:off x="548640" y="141732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Common baseline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All teams</a:t>
            </a:r>
            <a:endParaRPr lang="en-US" sz="1300" dirty="0"/>
          </a:p>
        </p:txBody>
      </p:sp>
      <p:sp>
        <p:nvSpPr>
          <p:cNvPr id="6" name="layer-b-0"/>
          <p:cNvSpPr/>
          <p:nvPr/>
        </p:nvSpPr>
        <p:spPr>
          <a:xfrm>
            <a:off x="548640" y="242316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intake rule: defect vs MI vs expectation gap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bug: type, detected-by, cause, customers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RCA for P1/P2 (already uniform)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Team -&gt; service -&gt; code map</a:t>
            </a:r>
            <a:endParaRPr lang="en-US" sz="1500" dirty="0"/>
          </a:p>
        </p:txBody>
      </p:sp>
      <p:sp>
        <p:nvSpPr>
          <p:cNvPr id="8" name="layer-h-1"/>
          <p:cNvSpPr/>
          <p:nvPr/>
        </p:nvSpPr>
        <p:spPr>
          <a:xfrm>
            <a:off x="4297680" y="141732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Risk-based layer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Any team, by risk</a:t>
            </a:r>
            <a:endParaRPr lang="en-US" sz="1300" dirty="0"/>
          </a:p>
        </p:txBody>
      </p:sp>
      <p:sp>
        <p:nvSpPr>
          <p:cNvPr id="11" name="layer-b-1"/>
          <p:cNvSpPr/>
          <p:nvPr/>
        </p:nvSpPr>
        <p:spPr>
          <a:xfrm>
            <a:off x="4297680" y="242316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6060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High-severity correctness failures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Hotspot code: review scales with size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Bug fixes: regression evidence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Emergency changes: follow-up review</a:t>
            </a:r>
            <a:endParaRPr lang="en-US" sz="1500" dirty="0"/>
          </a:p>
        </p:txBody>
      </p:sp>
      <p:sp>
        <p:nvSpPr>
          <p:cNvPr id="13" name="layer-h-2"/>
          <p:cNvSpPr/>
          <p:nvPr/>
        </p:nvSpPr>
        <p:spPr>
          <a:xfrm>
            <a:off x="8046720" y="141732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Team adaptation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By archetype</a:t>
            </a:r>
            <a:endParaRPr lang="en-US" sz="1300" dirty="0"/>
          </a:p>
        </p:txBody>
      </p:sp>
      <p:sp>
        <p:nvSpPr>
          <p:cNvPr id="16" name="layer-b-2"/>
          <p:cNvSpPr/>
          <p:nvPr/>
        </p:nvSpPr>
        <p:spPr>
          <a:xfrm>
            <a:off x="8046720" y="242316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6060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impact: detection and recovery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 growing: check re-homing, then triage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noise: expectation gaps first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Stable: baseline only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Teams choose how to meet a rule. The model fixes what must be true and how it is measured. Rules apply to all authors, human or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small experiments before any rollout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Intake rule and required fields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 teams, one per archetype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Bugs with type, detected-by, cause</a:t>
            </a:r>
            <a:endParaRPr lang="en-US" sz="1400" dirty="0"/>
          </a:p>
        </p:txBody>
      </p:sp>
      <p:sp>
        <p:nvSpPr>
          <p:cNvPr id="8" name="num-2"/>
          <p:cNvSpPr/>
          <p:nvPr/>
        </p:nvSpPr>
        <p:spPr>
          <a:xfrm>
            <a:off x="548640" y="235915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677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Monitoring for one correctness type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2677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high-impact team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22677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found before customers</a:t>
            </a:r>
            <a:endParaRPr lang="en-US" sz="1400" dirty="0"/>
          </a:p>
        </p:txBody>
      </p:sp>
      <p:sp>
        <p:nvSpPr>
          <p:cNvPr id="13" name="num-3"/>
          <p:cNvSpPr/>
          <p:nvPr/>
        </p:nvSpPr>
        <p:spPr>
          <a:xfrm>
            <a:off x="548640" y="32552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1638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 depth scaled to size in hotspot code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1638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teams vs 2 matched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1638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90-day follow-up fixes per PR</a:t>
            </a:r>
            <a:endParaRPr lang="en-US" sz="1400" dirty="0"/>
          </a:p>
        </p:txBody>
      </p:sp>
      <p:sp>
        <p:nvSpPr>
          <p:cNvPr id="18" name="num-4"/>
          <p:cNvSpPr/>
          <p:nvPr/>
        </p:nvSpPr>
        <p:spPr>
          <a:xfrm>
            <a:off x="548640" y="415137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05993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Extra review for bug fixes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40599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teams vs 2 matched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40599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Fix-caused share of new bugs</a:t>
            </a:r>
            <a:endParaRPr lang="en-US" sz="1400" dirty="0"/>
          </a:p>
        </p:txBody>
      </p:sp>
      <p:sp>
        <p:nvSpPr>
          <p:cNvPr id="23" name="num-5"/>
          <p:cNvSpPr/>
          <p:nvPr/>
        </p:nvSpPr>
        <p:spPr>
          <a:xfrm>
            <a:off x="548640" y="50474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560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Expectation-gap triage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49560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high-noise team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4956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 'works as designed' reports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quarter each, with control teams and a stop rule. A practice spreads only when it beats its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we need from management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experiments X1-X5 in volunteer teams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 quarter; no org-wide change yet</a:t>
            </a:r>
            <a:endParaRPr lang="en-US" sz="1400" dirty="0"/>
          </a:p>
        </p:txBody>
      </p:sp>
      <p:sp>
        <p:nvSpPr>
          <p:cNvPr id="7" name="num-2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14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Grant ServiceNow record-level read for research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53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Needed for who was affected and change-to-incident links</a:t>
            </a:r>
            <a:endParaRPr lang="en-US" sz="1400" dirty="0"/>
          </a:p>
        </p:txBody>
      </p:sp>
      <p:sp>
        <p:nvSpPr>
          <p:cNvPr id="11" name="num-3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66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 an owner for the team-to-service-to-code map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05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such map exists today</a:t>
            </a:r>
            <a:endParaRPr lang="en-US" sz="1400" dirty="0"/>
          </a:p>
        </p:txBody>
      </p:sp>
      <p:sp>
        <p:nvSpPr>
          <p:cNvPr id="15" name="num-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617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 a sponsor and a monthly quality review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566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team vs its own baseline, 8 dimensions</a:t>
            </a:r>
            <a:endParaRPr lang="en-US" sz="1400" dirty="0"/>
          </a:p>
        </p:txBody>
      </p:sp>
      <p:sp>
        <p:nvSpPr>
          <p:cNvPr id="19" name="timeline"/>
          <p:cNvSpPr/>
          <p:nvPr/>
        </p:nvSpPr>
        <p:spPr>
          <a:xfrm>
            <a:off x="7680960" y="1463040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4A5A7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Timeline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 X1-X5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2027-Q1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Re-test the AI effect (90 days)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794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2027-04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Review experiments vs controls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Then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572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Spread what worked; model v1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y Signal">
  <a:themeElements>
    <a:clrScheme name="Quality Signal">
      <a:dk1>
        <a:srgbClr val="1B2A41"/>
      </a:dk1>
      <a:lt1>
        <a:srgbClr val="FFFFFF"/>
      </a:lt1>
      <a:dk2>
        <a:srgbClr val="4A5A72"/>
      </a:dk2>
      <a:lt2>
        <a:srgbClr val="EEF2F6"/>
      </a:lt2>
      <a:accent1>
        <a:srgbClr val="C8443D"/>
      </a:accent1>
      <a:accent2>
        <a:srgbClr val="2A8C82"/>
      </a:accent2>
      <a:accent3>
        <a:srgbClr val="E0A030"/>
      </a:accent3>
      <a:accent4>
        <a:srgbClr val="8796AB"/>
      </a:accent4>
      <a:accent5>
        <a:srgbClr val="1B2A41"/>
      </a:accent5>
      <a:accent6>
        <a:srgbClr val="C9D3DF"/>
      </a:accent6>
      <a:hlink>
        <a:srgbClr val="2A8C82"/>
      </a:hlink>
      <a:folHlink>
        <a:srgbClr val="4A5A72"/>
      </a:folHlink>
    </a:clrScheme>
    <a:fontScheme name="Qualit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2026 - Research Summary</dc:title>
  <dc:subject>PptxGenJS Presentation</dc:subject>
  <dc:creator>QA Architecture</dc:creator>
  <cp:lastModifiedBy>QA Architecture</cp:lastModifiedBy>
  <cp:revision>1</cp:revision>
  <dcterms:created xsi:type="dcterms:W3CDTF">2026-10-25T07:51:56Z</dcterms:created>
  <dcterms:modified xsi:type="dcterms:W3CDTF">2026-10-25T07:51:56Z</dcterms:modified>
</cp:coreProperties>
</file>